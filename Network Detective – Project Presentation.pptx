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Network Detective, a self-healing network monitor. In one sentence: when a link or a device fails, our system notices it, works out what broke, moves the traffic to another path and then tests that path to prove the fix worked, all in about three seconds and without anyone touching it. I am Sai Likith, with Naveen and Nayan.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a normal network, when a link or a router fails, three things have to happen, and a person does all of them. First someone has to notice: monitoring tools such as Nagios or Zabbix check devices on a polling interval, often minutes by default, and then send an alert. Second, someone has to diagnose it. When one router crashes, every wire connected to it also looks broken, so the engineer gets a flood of alarms and has to work out which one is the real cause. Third, someone has to reroute the traffic by hand and then check the new path actually works. Users are cut off for that entire time. And small networks, like a college lab or an office, often have no engineer watching at all. Our project automates all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objectives we set in Review 1, and on the right is the evidence from the running system for each one. We monitor every device and link, every half second in simulation and every second on real devices. A cut link is confirmed in 1.2 seconds. The diagnoser named the right component in all eleven kinds of failure we tested. A detour is found in hundredths of a millisecond because it is stored in advance. The reroute is applied within about 5 to 11 milliseconds of detection, with no human involved. And finally every detour is tested: 30 out of 30 in simulation and 5 out of 5 on real devices passed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of the project: one closed loop with four steps. Detect: the monitor confirms a failure after three bad probes in a row, which takes about 1.2 seconds in simulation. Diagnose: the system works out the real cause, for example that a router crashed rather than five separate wires. Heal: it moves every affected route to a detour, which takes only 5 to 11 milliseconds. Verify: after a short wait it tests every hop of the new path, and if the path is bad it undoes the change and alerts an engineer. From the moment of failure to a verified fix takes 3.25 seconds in simulation. And when the broken part comes back, the traffic automatically moves back to its normal route. Each of us built one part of this loop, which we will explain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On top is the React dashboard, which talks to a FastAPI server over normal web requests and a WebSocket for live updates. Inside the server, the modules do not call each other directly. Each one publishes an event on an internal event bus, and the next module reacts to it. The health monitor publishes fault detected; the detector and healer pick it up and publish healing complete; the verifier tests the new path and publishes the verification result, which the dashboard shows live. This makes each module easy to test on its own. All devices, wires, incidents and metrics are stored in an SQLite database, which is the single source of truth: the network you draw in the editor is the network that is monitored. Underneath, the monitor talks either to the simulated network or to real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choices. The server is Python with FastAPI, which is asynchronous, so it can probe many devices at the same time without waiting on each one. For the network graph and shortest paths we use NetworkX, a well-tested library, rather than writing Dijkstra from scratch. Real pings use the ping3 library, which sends ICMP echo requests and works without administrator rights on macOS. Data is stored with SQLAlchemy in SQLite, which needs no setup, and the same code works with PostgreSQL for a bigger deployment. The dashboard is React with TypeScript and Tailwind, and it receives updates live over a WebSocket, so it changes the moment a fault happens. Everything is covered by 48 automated tests written with pytest.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one, detection, built by Sai Likith. The health monitor probes every device and every wire on a timer: every half second in simulation and every second on real devices. From the replies it measures latency, packet loss and jitter, which is how much the latency changes between replies. The important design decision is confirmation. On a real network single packets get lost all the time; in our own measurements about 8 percent of pings to Google DNS took over 200 milliseconds. So we only call a device down after three bad probes in a row. That costs about a second, and it stops us rerouting traffic for no reason. Once confirmed, the monitor announces a fault-detected event. A cut link is confirmed in 1.2 seconds in simulation, and when we switched off a real device it was detected in 6.2 to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two, deciding, built by Naveen. First the detector classifies each reading: over 200 milliseconds or 10 percent loss is critical, and a z-score check compares each reading with the device’s last 30 readings to catch something unusual even before it crosses a fixed limit. Then root cause: when a router crashes, all its wires also look broken, so the diagnoser groups them and raises one incident for the router. For the path, we use the same idea as fast reroute in real routers: for every route and every link or device on it, the detour is computed in advance and stored. When a failure happens, choosing the detour is just a lookup: 3 microseconds at 200 devices, compared with 0.39 milliseconds for a fresh Dijkstra run. If two things fail at once and the stored detour is not usable, we fall back to Dijkstra on whatever is still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three, healing and verification, built by Nayan. The self-healer moves every route that used the failed part onto its detour; choosing and applying it takes 5 to 11 milliseconds. But changing a route is not the same as fixing the problem, so the verifier waits two seconds for the network to settle and then tests every hop of the new path. It passes if every hop is under 300 milliseconds and 15 percent loss, which is one and a half times our critical limits, because a path that just changed deserves a little grace. If it fails, we undo the change so traffic is never left on a bad path, and we escalate to an engineer with the reason, for example “switch-c is down and cuts off server-e”. When the failed part is repaired, traffic fails back to its normal route. From the moment of failure to a verified fix takes 3.25 seconds in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dashboard, taken right after a link was cut. The topology view shows the broken link in red and the detour the system chose in green. The incidents page shows a timeline for every failure, built from the real incident data: when it was detected, what the diagnosis was, which route was applied and whether verification passed. The metrics page charts latency, loss and jitter for every device. And the simulator page lets us break the network on purpose, for example cut a link or crash a router, which is what we will use in the demo. Everything updates live over a WebSocket, so nobody has to refresh. The dashboard also has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simulation, the system has a live mode. In the topology editor you can add servers, routers and switches, give each one a real IP address, test it with a ping, and draw the wires between them. Everything is saved in the database. In live mode the monitor sends real ICMP pings every second, so the readings are real: over 615 pings each, our router answered in 5.9 milliseconds median and Google DNS in 44.5. When we cut the wire to Google DNS in the editor, the system rerouted through Cloudflare DNS within about 4.5 seconds and verified the detour with real pings, in 5 out of 5 runs. To be clear about the limits: the wires are the ones we draw, and the reroute changes our application’s routing table, not the configuration of the physical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From the moment of failure to a verified fix takes 3.25 seconds in simulation and 6.53 seconds on real devices. All 48 automated tests pass, including end-to-end tests that inject a failure into the running server. We ran 55 failures in simulation and every one ended with the correct outcome: 30 were healed and verified, and 25 were correctly escalated because no detour existed, for example when the only switch to a server crashed. Escalating with the right reason is the correct answer in those cases, because no software can route around a missing path. All 10 runs on real devices were also correct. And to make sure our live numbers are real, we measured 615 pings to each device over about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on performance. On the left is where the recovery time goes. Almost all of it is the three-probe confirmation and the fixed two-second settling wait before verification. Choosing and applying the detour itself takes only 5 to 11 milliseconds. Those waits are deliberate: they prevent false alarms and make sure we only call a fix verified once the path has settled. On the right is the benefit of storing detours in advance. Looking up a stored detour stays near a microsecond as the network grows, while a fresh Dijkstra run grows with the network, so the lookup is between about 100 and 250 times faster. The trade-off is building the table, which takes 1 millisecond for our campus network but grows quickly for very large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this compare with existing systems? Tools such as Nagios, Zabbix and PRTG are very good at detection, on their polling interval, but after the alert everything else is done by a person: reading the alerts to find the cause, rerouting by hand, checking the fix and restoring the routes after the repair. To compare fairly, we ran the same link cut with self-healing switched off, which makes our system behave like an alert-only tool, and then switched on. With healing off, the fault was detected just as fast, but traffic stayed down until someone acted. With healing on, the detour was applied 11 milliseconds after detection and verified 3.25 seconds after the cut. For failures that cannot be fixed, we do not just send the same alert: we say exactly what is cut off. We did not time a human response, so we do not claim a number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limits and where we would take this next. First, real equipment: in live mode the readings are real, but the reroute changes our application’s routing table, not the router’s configuration. The next step is to push the new route to real routers using SNMP or NETCONF. Second, larger networks: the backup table is built for every route and every part on it, which is instant for a campus but takes 3.7 seconds at 50 devices and 370 seconds at 200, so we would update only the routes affected by a change. Third, some devices block ping and would appear as down; probing a TCP port or reading SNMP counters would fix that. Finally, since we already store latency, loss and jitter history, a model could learn the warning signs and move traffic before a link actually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Network Detective closes the loop that today needs a person. It detects a failure in about 1.2 seconds, moves the traffic in milliseconds, and proves the fix worked by testing every hop, all within about 3.25 seconds, and it rolls back and explains itself when it cannot fix something. The full source code is public on GitHub at the link on the slide. Thank you, and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145487"/>
            <a:ext cx="10566443" cy="447028"/>
          </a:xfrm>
          <a:prstGeom prst="rect">
            <a:avLst/>
          </a:prstGeom>
          <a:noFill/>
          <a:ln/>
        </p:spPr>
        <p:txBody>
          <a:bodyPr wrap="square" lIns="0" tIns="0" rIns="0" bIns="0" rtlCol="0" anchor="t"/>
          <a:lstStyle>
            <a:lvl1pPr algn="l" indent="0" marL="0">
              <a:lnSpc>
                <a:spcPct val="115000"/>
              </a:lnSpc>
              <a:buNone/>
              <a:defRPr lang="en-US" sz="3200" dirty="0">
                <a:solidFill>
                  <a:srgbClr val="1A21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5" y="1897315"/>
            <a:ext cx="10566435" cy="4147885"/>
          </a:xfrm>
          <a:prstGeom prst="rect">
            <a:avLst/>
          </a:prstGeom>
          <a:noFill/>
          <a:ln/>
        </p:spPr>
        <p:txBody>
          <a:bodyPr wrap="square" lIns="0" tIns="0" rIns="0" bIns="0" rtlCol="0" anchor="t"/>
          <a:lstStyle>
            <a:lvl1pPr algn="l" indent="0" marL="0">
              <a:lnSpc>
                <a:spcPct val="140000"/>
              </a:lnSpc>
              <a:buNone/>
              <a:defRPr lang="en-US" sz="1600" dirty="0">
                <a:solidFill>
                  <a:srgbClr val="1A21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145487"/>
            <a:ext cx="10566443" cy="447028"/>
          </a:xfrm>
          <a:prstGeom prst="rect">
            <a:avLst/>
          </a:prstGeom>
          <a:noFill/>
          <a:ln/>
        </p:spPr>
        <p:txBody>
          <a:bodyPr wrap="square" lIns="0" tIns="0" rIns="0" bIns="0" rtlCol="0" anchor="t"/>
          <a:lstStyle>
            <a:lvl1pPr algn="l" indent="0" marL="0">
              <a:lnSpc>
                <a:spcPct val="115000"/>
              </a:lnSpc>
              <a:buNone/>
              <a:defRPr lang="en-US" sz="3200" dirty="0">
                <a:solidFill>
                  <a:srgbClr val="1A21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5" y="1897315"/>
            <a:ext cx="10566435" cy="4147885"/>
          </a:xfrm>
          <a:prstGeom prst="rect">
            <a:avLst/>
          </a:prstGeom>
          <a:noFill/>
          <a:ln/>
        </p:spPr>
        <p:txBody>
          <a:bodyPr wrap="square" lIns="0" tIns="0" rIns="0" bIns="0" rtlCol="0" anchor="t"/>
          <a:lstStyle>
            <a:lvl1pPr algn="l" indent="0" marL="0">
              <a:lnSpc>
                <a:spcPct val="140000"/>
              </a:lnSpc>
              <a:buNone/>
              <a:defRPr lang="en-US" sz="1600" dirty="0">
                <a:solidFill>
                  <a:srgbClr val="1A21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likithtech2006-pixel/network-detective"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2B"/>
        </a:solidFill>
      </p:bgPr>
    </p:bg>
    <p:spTree>
      <p:nvGrpSpPr>
        <p:cNvPr id="1" name=""/>
        <p:cNvGrpSpPr/>
        <p:nvPr/>
      </p:nvGrpSpPr>
      <p:grpSpPr>
        <a:xfrm>
          <a:off x="0" y="0"/>
          <a:ext cx="0" cy="0"/>
          <a:chOff x="0" y="0"/>
          <a:chExt cx="0" cy="0"/>
        </a:xfrm>
      </p:grpSpPr>
      <p:sp>
        <p:nvSpPr>
          <p:cNvPr id="2" name="Text 0"/>
          <p:cNvSpPr/>
          <p:nvPr/>
        </p:nvSpPr>
        <p:spPr>
          <a:xfrm>
            <a:off x="812765" y="812765"/>
            <a:ext cx="10883436" cy="274297"/>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A5B4FC"/>
                </a:solidFill>
                <a:latin typeface="IBM Plex Sans" pitchFamily="34" charset="0"/>
                <a:ea typeface="IBM Plex Sans" pitchFamily="34" charset="-122"/>
                <a:cs typeface="IBM Plex Sans" pitchFamily="34" charset="-120"/>
              </a:rPr>
              <a:t>BCSE308P · COMPUTER NETWORKS · FALL 2026–27</a:t>
            </a:r>
            <a:endParaRPr lang="en-US" sz="1400" dirty="0"/>
          </a:p>
        </p:txBody>
      </p:sp>
      <p:sp>
        <p:nvSpPr>
          <p:cNvPr id="3" name="Text 1"/>
          <p:cNvSpPr/>
          <p:nvPr>
            <p:ph type="title"/>
          </p:nvPr>
        </p:nvSpPr>
        <p:spPr>
          <a:xfrm>
            <a:off x="812765" y="1290225"/>
            <a:ext cx="9810728" cy="802615"/>
          </a:xfrm>
          <a:prstGeom prst="rect">
            <a:avLst/>
          </a:prstGeom>
          <a:noFill/>
          <a:ln/>
        </p:spPr>
        <p:txBody>
          <a:bodyPr wrap="square" lIns="0" tIns="0" rIns="0" bIns="0" rtlCol="0" anchor="t">
            <a:normAutofit/>
          </a:bodyPr>
          <a:lstStyle/>
          <a:p>
            <a:pPr algn="l" indent="0" marL="0">
              <a:lnSpc>
                <a:spcPts val="6120"/>
              </a:lnSpc>
              <a:buNone/>
            </a:pPr>
            <a:r>
              <a:rPr lang="en-US" sz="6000" b="1" i="0" dirty="0">
                <a:solidFill>
                  <a:srgbClr val="F1F3F9"/>
                </a:solidFill>
                <a:latin typeface="Space Grotesk" pitchFamily="34" charset="0"/>
                <a:ea typeface="Space Grotesk" pitchFamily="34" charset="-122"/>
                <a:cs typeface="Space Grotesk" pitchFamily="34" charset="-120"/>
              </a:rPr>
              <a:t>Network Detective</a:t>
            </a:r>
            <a:endParaRPr lang="en-US" sz="6000" dirty="0"/>
          </a:p>
        </p:txBody>
      </p:sp>
      <p:sp>
        <p:nvSpPr>
          <p:cNvPr id="4" name="Text 2"/>
          <p:cNvSpPr/>
          <p:nvPr/>
        </p:nvSpPr>
        <p:spPr>
          <a:xfrm>
            <a:off x="812765" y="2296003"/>
            <a:ext cx="9156664" cy="711226"/>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4BCD0"/>
                </a:solidFill>
                <a:latin typeface="IBM Plex Sans" pitchFamily="34" charset="0"/>
                <a:ea typeface="IBM Plex Sans" pitchFamily="34" charset="-122"/>
                <a:cs typeface="IBM Plex Sans" pitchFamily="34" charset="-120"/>
              </a:rPr>
              <a:t>A self-healing network that finds a failure, reroutes the traffic and proves the fix worked, in about three seconds.</a:t>
            </a:r>
            <a:endParaRPr lang="en-US" sz="2000" dirty="0"/>
          </a:p>
        </p:txBody>
      </p:sp>
      <p:sp>
        <p:nvSpPr>
          <p:cNvPr id="5" name="Text 3"/>
          <p:cNvSpPr/>
          <p:nvPr/>
        </p:nvSpPr>
        <p:spPr>
          <a:xfrm>
            <a:off x="812765" y="5491541"/>
            <a:ext cx="1411377"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3F9"/>
                </a:solidFill>
                <a:latin typeface="IBM Plex Sans" pitchFamily="34" charset="0"/>
                <a:ea typeface="IBM Plex Sans" pitchFamily="34" charset="-122"/>
                <a:cs typeface="IBM Plex Sans" pitchFamily="34" charset="-120"/>
              </a:rPr>
              <a:t>PV Sai Likith</a:t>
            </a:r>
            <a:endParaRPr lang="en-US" sz="1600" dirty="0"/>
          </a:p>
        </p:txBody>
      </p:sp>
      <p:sp>
        <p:nvSpPr>
          <p:cNvPr id="6" name="Text 4"/>
          <p:cNvSpPr/>
          <p:nvPr/>
        </p:nvSpPr>
        <p:spPr>
          <a:xfrm>
            <a:off x="812765" y="5814075"/>
            <a:ext cx="122694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24BCI0174</a:t>
            </a:r>
            <a:endParaRPr lang="en-US" sz="1300" dirty="0"/>
          </a:p>
        </p:txBody>
      </p:sp>
      <p:sp>
        <p:nvSpPr>
          <p:cNvPr id="7" name="Text 5"/>
          <p:cNvSpPr/>
          <p:nvPr/>
        </p:nvSpPr>
        <p:spPr>
          <a:xfrm>
            <a:off x="2598475" y="5491541"/>
            <a:ext cx="1138949"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3F9"/>
                </a:solidFill>
                <a:latin typeface="IBM Plex Sans" pitchFamily="34" charset="0"/>
                <a:ea typeface="IBM Plex Sans" pitchFamily="34" charset="-122"/>
                <a:cs typeface="IBM Plex Sans" pitchFamily="34" charset="-120"/>
              </a:rPr>
              <a:t>B. Naveen</a:t>
            </a:r>
            <a:endParaRPr lang="en-US" sz="1600" dirty="0"/>
          </a:p>
        </p:txBody>
      </p:sp>
      <p:sp>
        <p:nvSpPr>
          <p:cNvPr id="8" name="Text 6"/>
          <p:cNvSpPr/>
          <p:nvPr/>
        </p:nvSpPr>
        <p:spPr>
          <a:xfrm>
            <a:off x="2598475" y="5814075"/>
            <a:ext cx="99992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24BCE0512</a:t>
            </a:r>
            <a:endParaRPr lang="en-US" sz="1300" dirty="0"/>
          </a:p>
        </p:txBody>
      </p:sp>
      <p:sp>
        <p:nvSpPr>
          <p:cNvPr id="9" name="Text 7"/>
          <p:cNvSpPr/>
          <p:nvPr/>
        </p:nvSpPr>
        <p:spPr>
          <a:xfrm>
            <a:off x="4157161" y="5491541"/>
            <a:ext cx="951739"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3F9"/>
                </a:solidFill>
                <a:latin typeface="IBM Plex Sans" pitchFamily="34" charset="0"/>
                <a:ea typeface="IBM Plex Sans" pitchFamily="34" charset="-122"/>
                <a:cs typeface="IBM Plex Sans" pitchFamily="34" charset="-120"/>
              </a:rPr>
              <a:t>M. Nayan</a:t>
            </a:r>
            <a:endParaRPr lang="en-US" sz="1600" dirty="0"/>
          </a:p>
        </p:txBody>
      </p:sp>
      <p:sp>
        <p:nvSpPr>
          <p:cNvPr id="10" name="Text 8"/>
          <p:cNvSpPr/>
          <p:nvPr/>
        </p:nvSpPr>
        <p:spPr>
          <a:xfrm>
            <a:off x="4157161" y="5814075"/>
            <a:ext cx="1081126"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24BCE0538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5"/>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p:nvPr>
            <p:ph type="title"/>
          </p:nvPr>
        </p:nvSpPr>
        <p:spPr>
          <a:xfrm>
            <a:off x="812765" y="1145488"/>
            <a:ext cx="9810728" cy="103122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133"/>
                </a:solidFill>
                <a:latin typeface="Space Grotesk" pitchFamily="34" charset="0"/>
                <a:ea typeface="Space Grotesk" pitchFamily="34" charset="-122"/>
                <a:cs typeface="Space Grotesk" pitchFamily="34" charset="-120"/>
              </a:rPr>
              <a:t>When a link fails today, a person has to fix it</a:t>
            </a:r>
            <a:endParaRPr lang="en-US" sz="3600" dirty="0"/>
          </a:p>
        </p:txBody>
      </p:sp>
      <p:sp>
        <p:nvSpPr>
          <p:cNvPr id="4" name="Shape 2"/>
          <p:cNvSpPr/>
          <p:nvPr/>
        </p:nvSpPr>
        <p:spPr>
          <a:xfrm>
            <a:off x="812765" y="2557671"/>
            <a:ext cx="3386694" cy="1874110"/>
          </a:xfrm>
          <a:prstGeom prst="roundRect">
            <a:avLst>
              <a:gd name="adj" fmla="val 5421"/>
            </a:avLst>
          </a:prstGeom>
          <a:solidFill>
            <a:srgbClr val="FFFFFF"/>
          </a:solidFill>
          <a:ln/>
        </p:spPr>
      </p:sp>
      <p:sp>
        <p:nvSpPr>
          <p:cNvPr id="5" name="Shape 3"/>
          <p:cNvSpPr/>
          <p:nvPr/>
        </p:nvSpPr>
        <p:spPr>
          <a:xfrm>
            <a:off x="812765" y="2557671"/>
            <a:ext cx="3386694" cy="1874110"/>
          </a:xfrm>
          <a:custGeom>
            <a:avLst/>
            <a:gdLst/>
            <a:ahLst/>
            <a:cxnLst/>
            <a:rect l="l" t="t" r="r" b="b"/>
            <a:pathLst>
              <a:path w="3386694" h="1874110">
                <a:moveTo>
                  <a:pt x="0" y="101600"/>
                </a:moveTo>
                <a:lnTo>
                  <a:pt x="0" y="101600"/>
                </a:lnTo>
                <a:arcTo hR="101600" wR="101600" stAng="10800000" swAng="5400000"/>
                <a:lnTo>
                  <a:pt x="3285094" y="0"/>
                </a:lnTo>
                <a:arcTo hR="101600" wR="101600" stAng="16200000" swAng="5400000"/>
                <a:lnTo>
                  <a:pt x="3386694" y="101600"/>
                </a:lnTo>
                <a:arcTo hR="50800" wR="101600" stAng="0" swAng="-5400000"/>
                <a:lnTo>
                  <a:pt x="101600" y="50800"/>
                </a:lnTo>
                <a:arcTo hR="50800" wR="101600" stAng="16200000" swAng="-5400000"/>
                <a:close/>
              </a:path>
            </a:pathLst>
          </a:custGeom>
          <a:solidFill>
            <a:srgbClr val="4F46E5"/>
          </a:solidFill>
          <a:ln/>
        </p:spPr>
      </p:sp>
      <p:sp>
        <p:nvSpPr>
          <p:cNvPr id="6" name="Text 4"/>
          <p:cNvSpPr/>
          <p:nvPr/>
        </p:nvSpPr>
        <p:spPr>
          <a:xfrm>
            <a:off x="1092140" y="2886319"/>
            <a:ext cx="2912782"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2133"/>
                </a:solidFill>
                <a:latin typeface="Space Grotesk" pitchFamily="34" charset="0"/>
                <a:ea typeface="Space Grotesk" pitchFamily="34" charset="-122"/>
                <a:cs typeface="Space Grotesk" pitchFamily="34" charset="-120"/>
              </a:rPr>
              <a:t>1. Notice</a:t>
            </a:r>
            <a:endParaRPr lang="en-US" sz="2200" dirty="0"/>
          </a:p>
        </p:txBody>
      </p:sp>
      <p:sp>
        <p:nvSpPr>
          <p:cNvPr id="7" name="Text 5"/>
          <p:cNvSpPr/>
          <p:nvPr/>
        </p:nvSpPr>
        <p:spPr>
          <a:xfrm>
            <a:off x="1092140" y="3379086"/>
            <a:ext cx="2912782" cy="7987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Monitoring tools poll every few minutes, then send an alert to someone.</a:t>
            </a:r>
            <a:endParaRPr lang="en-US" sz="1400" dirty="0"/>
          </a:p>
        </p:txBody>
      </p:sp>
      <p:sp>
        <p:nvSpPr>
          <p:cNvPr id="8" name="Shape 6"/>
          <p:cNvSpPr/>
          <p:nvPr/>
        </p:nvSpPr>
        <p:spPr>
          <a:xfrm>
            <a:off x="4402617" y="2557671"/>
            <a:ext cx="3386739" cy="1874110"/>
          </a:xfrm>
          <a:prstGeom prst="roundRect">
            <a:avLst>
              <a:gd name="adj" fmla="val 5421"/>
            </a:avLst>
          </a:prstGeom>
          <a:solidFill>
            <a:srgbClr val="FFFFFF"/>
          </a:solidFill>
          <a:ln/>
        </p:spPr>
      </p:sp>
      <p:sp>
        <p:nvSpPr>
          <p:cNvPr id="9" name="Shape 7"/>
          <p:cNvSpPr/>
          <p:nvPr/>
        </p:nvSpPr>
        <p:spPr>
          <a:xfrm>
            <a:off x="4402617" y="2557671"/>
            <a:ext cx="3386739" cy="1874110"/>
          </a:xfrm>
          <a:custGeom>
            <a:avLst/>
            <a:gdLst/>
            <a:ahLst/>
            <a:cxnLst/>
            <a:rect l="l" t="t" r="r" b="b"/>
            <a:pathLst>
              <a:path w="3386739" h="1874110">
                <a:moveTo>
                  <a:pt x="0" y="101600"/>
                </a:moveTo>
                <a:lnTo>
                  <a:pt x="0" y="101600"/>
                </a:lnTo>
                <a:arcTo hR="101600" wR="101600" stAng="10800000" swAng="5400000"/>
                <a:lnTo>
                  <a:pt x="3285139" y="0"/>
                </a:lnTo>
                <a:arcTo hR="101600" wR="101600" stAng="16200000" swAng="5400000"/>
                <a:lnTo>
                  <a:pt x="3386739" y="101600"/>
                </a:lnTo>
                <a:arcTo hR="50800" wR="101600" stAng="0" swAng="-5400000"/>
                <a:lnTo>
                  <a:pt x="101600" y="50800"/>
                </a:lnTo>
                <a:arcTo hR="50800" wR="101600" stAng="16200000" swAng="-5400000"/>
                <a:close/>
              </a:path>
            </a:pathLst>
          </a:custGeom>
          <a:solidFill>
            <a:srgbClr val="4F46E5"/>
          </a:solidFill>
          <a:ln/>
        </p:spPr>
      </p:sp>
      <p:sp>
        <p:nvSpPr>
          <p:cNvPr id="10" name="Text 8"/>
          <p:cNvSpPr/>
          <p:nvPr/>
        </p:nvSpPr>
        <p:spPr>
          <a:xfrm>
            <a:off x="4681992" y="2886319"/>
            <a:ext cx="2912829"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2133"/>
                </a:solidFill>
                <a:latin typeface="Space Grotesk" pitchFamily="34" charset="0"/>
                <a:ea typeface="Space Grotesk" pitchFamily="34" charset="-122"/>
                <a:cs typeface="Space Grotesk" pitchFamily="34" charset="-120"/>
              </a:rPr>
              <a:t>2. Diagnose</a:t>
            </a:r>
            <a:endParaRPr lang="en-US" sz="2200" dirty="0"/>
          </a:p>
        </p:txBody>
      </p:sp>
      <p:sp>
        <p:nvSpPr>
          <p:cNvPr id="11" name="Text 9"/>
          <p:cNvSpPr/>
          <p:nvPr/>
        </p:nvSpPr>
        <p:spPr>
          <a:xfrm>
            <a:off x="4681992" y="3379086"/>
            <a:ext cx="2912829" cy="7987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One crashed router raises an alarm for every wire. An engineer works out the cause.</a:t>
            </a:r>
            <a:endParaRPr lang="en-US" sz="1400" dirty="0"/>
          </a:p>
        </p:txBody>
      </p:sp>
      <p:sp>
        <p:nvSpPr>
          <p:cNvPr id="12" name="Shape 10"/>
          <p:cNvSpPr/>
          <p:nvPr/>
        </p:nvSpPr>
        <p:spPr>
          <a:xfrm>
            <a:off x="7992514" y="2557671"/>
            <a:ext cx="3386694" cy="1874110"/>
          </a:xfrm>
          <a:prstGeom prst="roundRect">
            <a:avLst>
              <a:gd name="adj" fmla="val 5421"/>
            </a:avLst>
          </a:prstGeom>
          <a:solidFill>
            <a:srgbClr val="FFFFFF"/>
          </a:solidFill>
          <a:ln/>
        </p:spPr>
      </p:sp>
      <p:sp>
        <p:nvSpPr>
          <p:cNvPr id="13" name="Shape 11"/>
          <p:cNvSpPr/>
          <p:nvPr/>
        </p:nvSpPr>
        <p:spPr>
          <a:xfrm>
            <a:off x="7992514" y="2557671"/>
            <a:ext cx="3386694" cy="1874110"/>
          </a:xfrm>
          <a:custGeom>
            <a:avLst/>
            <a:gdLst/>
            <a:ahLst/>
            <a:cxnLst/>
            <a:rect l="l" t="t" r="r" b="b"/>
            <a:pathLst>
              <a:path w="3386694" h="1874110">
                <a:moveTo>
                  <a:pt x="0" y="101600"/>
                </a:moveTo>
                <a:lnTo>
                  <a:pt x="0" y="101600"/>
                </a:lnTo>
                <a:arcTo hR="101600" wR="101600" stAng="10800000" swAng="5400000"/>
                <a:lnTo>
                  <a:pt x="3285094" y="0"/>
                </a:lnTo>
                <a:arcTo hR="101600" wR="101600" stAng="16200000" swAng="5400000"/>
                <a:lnTo>
                  <a:pt x="3386694" y="101600"/>
                </a:lnTo>
                <a:arcTo hR="50800" wR="101600" stAng="0" swAng="-5400000"/>
                <a:lnTo>
                  <a:pt x="101600" y="50800"/>
                </a:lnTo>
                <a:arcTo hR="50800" wR="101600" stAng="16200000" swAng="-5400000"/>
                <a:close/>
              </a:path>
            </a:pathLst>
          </a:custGeom>
          <a:solidFill>
            <a:srgbClr val="4F46E5"/>
          </a:solidFill>
          <a:ln/>
        </p:spPr>
      </p:sp>
      <p:sp>
        <p:nvSpPr>
          <p:cNvPr id="14" name="Text 12"/>
          <p:cNvSpPr/>
          <p:nvPr/>
        </p:nvSpPr>
        <p:spPr>
          <a:xfrm>
            <a:off x="8271889" y="2886319"/>
            <a:ext cx="2912782"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2133"/>
                </a:solidFill>
                <a:latin typeface="Space Grotesk" pitchFamily="34" charset="0"/>
                <a:ea typeface="Space Grotesk" pitchFamily="34" charset="-122"/>
                <a:cs typeface="Space Grotesk" pitchFamily="34" charset="-120"/>
              </a:rPr>
              <a:t>3. Reroute</a:t>
            </a:r>
            <a:endParaRPr lang="en-US" sz="2200" dirty="0"/>
          </a:p>
        </p:txBody>
      </p:sp>
      <p:sp>
        <p:nvSpPr>
          <p:cNvPr id="15" name="Text 13"/>
          <p:cNvSpPr/>
          <p:nvPr/>
        </p:nvSpPr>
        <p:spPr>
          <a:xfrm>
            <a:off x="8271889" y="3379086"/>
            <a:ext cx="2912782" cy="7987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Routes are changed by hand, and someone checks that the new path works.</a:t>
            </a:r>
            <a:endParaRPr lang="en-US" sz="1400" dirty="0"/>
          </a:p>
        </p:txBody>
      </p:sp>
      <p:sp>
        <p:nvSpPr>
          <p:cNvPr id="16" name="Text 14"/>
          <p:cNvSpPr/>
          <p:nvPr/>
        </p:nvSpPr>
        <p:spPr>
          <a:xfrm>
            <a:off x="812765" y="4838141"/>
            <a:ext cx="10883436" cy="66548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2133"/>
                </a:solidFill>
                <a:latin typeface="IBM Plex Sans" pitchFamily="34" charset="0"/>
                <a:ea typeface="IBM Plex Sans" pitchFamily="34" charset="-122"/>
                <a:cs typeface="IBM Plex Sans" pitchFamily="34" charset="-120"/>
              </a:rPr>
              <a:t>Traffic stays down for that whole time.</a:t>
            </a:r>
            <a:r>
              <a:rPr lang="en-US" sz="1800" dirty="0">
                <a:solidFill>
                  <a:srgbClr val="1A2133"/>
                </a:solidFill>
                <a:latin typeface="IBM Plex Sans" pitchFamily="34" charset="0"/>
                <a:ea typeface="IBM Plex Sans" pitchFamily="34" charset="-122"/>
                <a:cs typeface="IBM Plex Sans" pitchFamily="34" charset="-120"/>
              </a:rPr>
              <a:t> </a:t>
            </a:r>
            <a:r>
              <a:rPr lang="en-US" sz="1800" dirty="0">
                <a:solidFill>
                  <a:srgbClr val="4A5568"/>
                </a:solidFill>
                <a:latin typeface="IBM Plex Sans" pitchFamily="34" charset="0"/>
                <a:ea typeface="IBM Plex Sans" pitchFamily="34" charset="-122"/>
                <a:cs typeface="IBM Plex Sans" pitchFamily="34" charset="-120"/>
              </a:rPr>
              <a:t>Small campus and office networks often have nobody watching.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OBJECTIVES</a:t>
            </a:r>
            <a:endParaRPr lang="en-US" sz="1300" dirty="0"/>
          </a:p>
        </p:txBody>
      </p:sp>
      <p:sp>
        <p:nvSpPr>
          <p:cNvPr id="3" name="Text 1"/>
          <p:cNvSpPr/>
          <p:nvPr>
            <p:ph type="title"/>
          </p:nvPr>
        </p:nvSpPr>
        <p:spPr>
          <a:xfrm>
            <a:off x="812765" y="1145488"/>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Six goals, each met with a measured result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1908890"/>
          <a:ext cx="10554849" cy="3423060"/>
        </p:xfrm>
        <a:graphic>
          <a:graphicData uri="http://schemas.openxmlformats.org/drawingml/2006/table">
            <a:tbl>
              <a:tblPr/>
              <a:tblGrid>
                <a:gridCol w="5277425"/>
                <a:gridCol w="5277425"/>
              </a:tblGrid>
              <a:tr h="489009">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Objective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Evidence from the running system</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21626"/>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Monitor every device and link continuously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Probed every 0.5 s (simulation), 1 s (live)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Detect failures, high latency and loss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Link cut confirmed in 1.2 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Find the exact failed component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11 of 11 failure kinds named correctly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Compute an alternate path</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Stored detour found in 0.01–0.02 ms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Reroute without human input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Applied 5–11 ms after detection</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Verify that connectivity is restored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30 of 30 simulated, 5 of 5 live detours verified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72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5B4FC"/>
                </a:solidFill>
                <a:latin typeface="IBM Plex Sans" pitchFamily="34" charset="0"/>
                <a:ea typeface="IBM Plex Sans" pitchFamily="34" charset="-122"/>
                <a:cs typeface="IBM Plex Sans" pitchFamily="34" charset="-120"/>
              </a:rPr>
              <a:t>OUR SOLUTION</a:t>
            </a:r>
            <a:endParaRPr lang="en-US" sz="1300" dirty="0"/>
          </a:p>
        </p:txBody>
      </p:sp>
      <p:sp>
        <p:nvSpPr>
          <p:cNvPr id="3" name="Text 1"/>
          <p:cNvSpPr/>
          <p:nvPr>
            <p:ph type="title"/>
          </p:nvPr>
        </p:nvSpPr>
        <p:spPr>
          <a:xfrm>
            <a:off x="812765" y="1145488"/>
            <a:ext cx="9810728" cy="103122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3F9"/>
                </a:solidFill>
                <a:latin typeface="Space Grotesk" pitchFamily="34" charset="0"/>
                <a:ea typeface="Space Grotesk" pitchFamily="34" charset="-122"/>
                <a:cs typeface="Space Grotesk" pitchFamily="34" charset="-120"/>
              </a:rPr>
              <a:t>One closed loop that runs without a person</a:t>
            </a:r>
            <a:endParaRPr lang="en-US" sz="3600" dirty="0"/>
          </a:p>
        </p:txBody>
      </p:sp>
      <p:sp>
        <p:nvSpPr>
          <p:cNvPr id="4" name="Shape 2"/>
          <p:cNvSpPr/>
          <p:nvPr/>
        </p:nvSpPr>
        <p:spPr>
          <a:xfrm>
            <a:off x="812765" y="2728178"/>
            <a:ext cx="2184416" cy="1583006"/>
          </a:xfrm>
          <a:prstGeom prst="roundRect">
            <a:avLst>
              <a:gd name="adj" fmla="val 6418"/>
            </a:avLst>
          </a:prstGeom>
          <a:solidFill>
            <a:srgbClr val="1E2540"/>
          </a:solidFill>
          <a:ln/>
        </p:spPr>
      </p:sp>
      <p:sp>
        <p:nvSpPr>
          <p:cNvPr id="5" name="Text 3"/>
          <p:cNvSpPr/>
          <p:nvPr/>
        </p:nvSpPr>
        <p:spPr>
          <a:xfrm>
            <a:off x="1066734" y="2982147"/>
            <a:ext cx="1727278"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1F3F9"/>
                </a:solidFill>
                <a:latin typeface="Space Grotesk" pitchFamily="34" charset="0"/>
                <a:ea typeface="Space Grotesk" pitchFamily="34" charset="-122"/>
                <a:cs typeface="Space Grotesk" pitchFamily="34" charset="-120"/>
              </a:rPr>
              <a:t>Detect</a:t>
            </a:r>
            <a:endParaRPr lang="en-US" sz="2200" dirty="0"/>
          </a:p>
        </p:txBody>
      </p:sp>
      <p:sp>
        <p:nvSpPr>
          <p:cNvPr id="6" name="Text 4"/>
          <p:cNvSpPr/>
          <p:nvPr/>
        </p:nvSpPr>
        <p:spPr>
          <a:xfrm>
            <a:off x="1066734" y="3462234"/>
            <a:ext cx="1727278" cy="26478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BCD0"/>
                </a:solidFill>
                <a:latin typeface="IBM Plex Sans" pitchFamily="34" charset="0"/>
                <a:ea typeface="IBM Plex Sans" pitchFamily="34" charset="-122"/>
                <a:cs typeface="IBM Plex Sans" pitchFamily="34" charset="-120"/>
              </a:rPr>
              <a:t>3 bad probes in a row</a:t>
            </a:r>
            <a:endParaRPr lang="en-US" sz="1300" dirty="0"/>
          </a:p>
        </p:txBody>
      </p:sp>
      <p:sp>
        <p:nvSpPr>
          <p:cNvPr id="7" name="Text 5"/>
          <p:cNvSpPr/>
          <p:nvPr/>
        </p:nvSpPr>
        <p:spPr>
          <a:xfrm>
            <a:off x="1066734" y="3790519"/>
            <a:ext cx="1727278" cy="29209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5B4FC"/>
                </a:solidFill>
                <a:latin typeface="IBM Plex Sans" pitchFamily="34" charset="0"/>
                <a:ea typeface="IBM Plex Sans" pitchFamily="34" charset="-122"/>
                <a:cs typeface="IBM Plex Sans" pitchFamily="34" charset="-120"/>
              </a:rPr>
              <a:t>1.2 s</a:t>
            </a:r>
            <a:endParaRPr lang="en-US" sz="1500" dirty="0"/>
          </a:p>
        </p:txBody>
      </p:sp>
      <p:pic>
        <p:nvPicPr>
          <p:cNvPr id="8" name="Image 0" descr="arrow-right">    </p:cNvPr>
          <p:cNvPicPr>
            <a:picLocks noChangeAspect="1"/>
          </p:cNvPicPr>
          <p:nvPr/>
        </p:nvPicPr>
        <p:blipFill>
          <a:blip r:embed="rId1"/>
          <a:srcRect l="-10" r="-10" t="0" b="0"/>
          <a:stretch/>
        </p:blipFill>
        <p:spPr>
          <a:xfrm>
            <a:off x="3124166" y="3418078"/>
            <a:ext cx="355593" cy="203157"/>
          </a:xfrm>
          <a:prstGeom prst="rect">
            <a:avLst/>
          </a:prstGeom>
        </p:spPr>
      </p:pic>
      <p:sp>
        <p:nvSpPr>
          <p:cNvPr id="9" name="Shape 6"/>
          <p:cNvSpPr/>
          <p:nvPr/>
        </p:nvSpPr>
        <p:spPr>
          <a:xfrm>
            <a:off x="3606743" y="2728178"/>
            <a:ext cx="2184461" cy="1583006"/>
          </a:xfrm>
          <a:prstGeom prst="roundRect">
            <a:avLst>
              <a:gd name="adj" fmla="val 6418"/>
            </a:avLst>
          </a:prstGeom>
          <a:solidFill>
            <a:srgbClr val="1E2540"/>
          </a:solidFill>
          <a:ln/>
        </p:spPr>
      </p:sp>
      <p:sp>
        <p:nvSpPr>
          <p:cNvPr id="10" name="Text 7"/>
          <p:cNvSpPr/>
          <p:nvPr/>
        </p:nvSpPr>
        <p:spPr>
          <a:xfrm>
            <a:off x="3860713" y="2982147"/>
            <a:ext cx="1727323"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1F3F9"/>
                </a:solidFill>
                <a:latin typeface="Space Grotesk" pitchFamily="34" charset="0"/>
                <a:ea typeface="Space Grotesk" pitchFamily="34" charset="-122"/>
                <a:cs typeface="Space Grotesk" pitchFamily="34" charset="-120"/>
              </a:rPr>
              <a:t>Diagnose</a:t>
            </a:r>
            <a:endParaRPr lang="en-US" sz="2200" dirty="0"/>
          </a:p>
        </p:txBody>
      </p:sp>
      <p:sp>
        <p:nvSpPr>
          <p:cNvPr id="11" name="Text 8"/>
          <p:cNvSpPr/>
          <p:nvPr/>
        </p:nvSpPr>
        <p:spPr>
          <a:xfrm>
            <a:off x="3860713" y="3462234"/>
            <a:ext cx="1727323" cy="26478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BCD0"/>
                </a:solidFill>
                <a:latin typeface="IBM Plex Sans" pitchFamily="34" charset="0"/>
                <a:ea typeface="IBM Plex Sans" pitchFamily="34" charset="-122"/>
                <a:cs typeface="IBM Plex Sans" pitchFamily="34" charset="-120"/>
              </a:rPr>
              <a:t>Name the real cause</a:t>
            </a:r>
            <a:endParaRPr lang="en-US" sz="1300" dirty="0"/>
          </a:p>
        </p:txBody>
      </p:sp>
      <p:sp>
        <p:nvSpPr>
          <p:cNvPr id="12" name="Text 9"/>
          <p:cNvSpPr/>
          <p:nvPr/>
        </p:nvSpPr>
        <p:spPr>
          <a:xfrm>
            <a:off x="3860713" y="3790519"/>
            <a:ext cx="1727323" cy="29209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5B4FC"/>
                </a:solidFill>
                <a:latin typeface="IBM Plex Sans" pitchFamily="34" charset="0"/>
                <a:ea typeface="IBM Plex Sans" pitchFamily="34" charset="-122"/>
                <a:cs typeface="IBM Plex Sans" pitchFamily="34" charset="-120"/>
              </a:rPr>
              <a:t>milliseconds</a:t>
            </a:r>
            <a:endParaRPr lang="en-US" sz="1500" dirty="0"/>
          </a:p>
        </p:txBody>
      </p:sp>
      <p:pic>
        <p:nvPicPr>
          <p:cNvPr id="13" name="Image 1" descr="arrow-right">    </p:cNvPr>
          <p:cNvPicPr>
            <a:picLocks noChangeAspect="1"/>
          </p:cNvPicPr>
          <p:nvPr/>
        </p:nvPicPr>
        <p:blipFill>
          <a:blip r:embed="rId2"/>
          <a:srcRect l="-10" r="-10" t="0" b="0"/>
          <a:stretch/>
        </p:blipFill>
        <p:spPr>
          <a:xfrm>
            <a:off x="5918190" y="3418078"/>
            <a:ext cx="355593" cy="203157"/>
          </a:xfrm>
          <a:prstGeom prst="rect">
            <a:avLst/>
          </a:prstGeom>
        </p:spPr>
      </p:pic>
      <p:sp>
        <p:nvSpPr>
          <p:cNvPr id="14" name="Shape 10"/>
          <p:cNvSpPr/>
          <p:nvPr/>
        </p:nvSpPr>
        <p:spPr>
          <a:xfrm>
            <a:off x="6400767" y="2608484"/>
            <a:ext cx="2184416" cy="1822392"/>
          </a:xfrm>
          <a:prstGeom prst="roundRect">
            <a:avLst>
              <a:gd name="adj" fmla="val 5575"/>
            </a:avLst>
          </a:prstGeom>
          <a:solidFill>
            <a:srgbClr val="1E2540"/>
          </a:solidFill>
          <a:ln/>
        </p:spPr>
      </p:sp>
      <p:sp>
        <p:nvSpPr>
          <p:cNvPr id="15" name="Text 11"/>
          <p:cNvSpPr/>
          <p:nvPr/>
        </p:nvSpPr>
        <p:spPr>
          <a:xfrm>
            <a:off x="6654736" y="2862453"/>
            <a:ext cx="1727278"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1F3F9"/>
                </a:solidFill>
                <a:latin typeface="Space Grotesk" pitchFamily="34" charset="0"/>
                <a:ea typeface="Space Grotesk" pitchFamily="34" charset="-122"/>
                <a:cs typeface="Space Grotesk" pitchFamily="34" charset="-120"/>
              </a:rPr>
              <a:t>Heal</a:t>
            </a:r>
            <a:endParaRPr lang="en-US" sz="2200" dirty="0"/>
          </a:p>
        </p:txBody>
      </p:sp>
      <p:sp>
        <p:nvSpPr>
          <p:cNvPr id="16" name="Text 12"/>
          <p:cNvSpPr/>
          <p:nvPr/>
        </p:nvSpPr>
        <p:spPr>
          <a:xfrm>
            <a:off x="6654736" y="3342540"/>
            <a:ext cx="1727278"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BCD0"/>
                </a:solidFill>
                <a:latin typeface="IBM Plex Sans" pitchFamily="34" charset="0"/>
                <a:ea typeface="IBM Plex Sans" pitchFamily="34" charset="-122"/>
                <a:cs typeface="IBM Plex Sans" pitchFamily="34" charset="-120"/>
              </a:rPr>
              <a:t>Move traffic to a detour</a:t>
            </a:r>
            <a:endParaRPr lang="en-US" sz="1300" dirty="0"/>
          </a:p>
        </p:txBody>
      </p:sp>
      <p:sp>
        <p:nvSpPr>
          <p:cNvPr id="17" name="Text 13"/>
          <p:cNvSpPr/>
          <p:nvPr/>
        </p:nvSpPr>
        <p:spPr>
          <a:xfrm>
            <a:off x="6654736" y="3910212"/>
            <a:ext cx="1727278" cy="29209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5B4FC"/>
                </a:solidFill>
                <a:latin typeface="IBM Plex Sans" pitchFamily="34" charset="0"/>
                <a:ea typeface="IBM Plex Sans" pitchFamily="34" charset="-122"/>
                <a:cs typeface="IBM Plex Sans" pitchFamily="34" charset="-120"/>
              </a:rPr>
              <a:t>5–11 ms</a:t>
            </a:r>
            <a:endParaRPr lang="en-US" sz="1500" dirty="0"/>
          </a:p>
        </p:txBody>
      </p:sp>
      <p:pic>
        <p:nvPicPr>
          <p:cNvPr id="18" name="Image 2" descr="arrow-right">    </p:cNvPr>
          <p:cNvPicPr>
            <a:picLocks noChangeAspect="1"/>
          </p:cNvPicPr>
          <p:nvPr/>
        </p:nvPicPr>
        <p:blipFill>
          <a:blip r:embed="rId3"/>
          <a:srcRect l="-10" r="-10" t="0" b="0"/>
          <a:stretch/>
        </p:blipFill>
        <p:spPr>
          <a:xfrm>
            <a:off x="8712168" y="3418078"/>
            <a:ext cx="355593" cy="203157"/>
          </a:xfrm>
          <a:prstGeom prst="rect">
            <a:avLst/>
          </a:prstGeom>
        </p:spPr>
      </p:pic>
      <p:sp>
        <p:nvSpPr>
          <p:cNvPr id="19" name="Shape 14"/>
          <p:cNvSpPr/>
          <p:nvPr/>
        </p:nvSpPr>
        <p:spPr>
          <a:xfrm>
            <a:off x="9194747" y="2608484"/>
            <a:ext cx="2184461" cy="1822392"/>
          </a:xfrm>
          <a:prstGeom prst="roundRect">
            <a:avLst>
              <a:gd name="adj" fmla="val 5575"/>
            </a:avLst>
          </a:prstGeom>
          <a:solidFill>
            <a:srgbClr val="1E2540"/>
          </a:solidFill>
          <a:ln/>
        </p:spPr>
      </p:sp>
      <p:sp>
        <p:nvSpPr>
          <p:cNvPr id="20" name="Text 15"/>
          <p:cNvSpPr/>
          <p:nvPr/>
        </p:nvSpPr>
        <p:spPr>
          <a:xfrm>
            <a:off x="9448716" y="2862453"/>
            <a:ext cx="1727323"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1F3F9"/>
                </a:solidFill>
                <a:latin typeface="Space Grotesk" pitchFamily="34" charset="0"/>
                <a:ea typeface="Space Grotesk" pitchFamily="34" charset="-122"/>
                <a:cs typeface="Space Grotesk" pitchFamily="34" charset="-120"/>
              </a:rPr>
              <a:t>Verify</a:t>
            </a:r>
            <a:endParaRPr lang="en-US" sz="2200" dirty="0"/>
          </a:p>
        </p:txBody>
      </p:sp>
      <p:sp>
        <p:nvSpPr>
          <p:cNvPr id="21" name="Text 16"/>
          <p:cNvSpPr/>
          <p:nvPr/>
        </p:nvSpPr>
        <p:spPr>
          <a:xfrm>
            <a:off x="9448716" y="3342540"/>
            <a:ext cx="1727323"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BCD0"/>
                </a:solidFill>
                <a:latin typeface="IBM Plex Sans" pitchFamily="34" charset="0"/>
                <a:ea typeface="IBM Plex Sans" pitchFamily="34" charset="-122"/>
                <a:cs typeface="IBM Plex Sans" pitchFamily="34" charset="-120"/>
              </a:rPr>
              <a:t>Test every hop, or undo</a:t>
            </a:r>
            <a:endParaRPr lang="en-US" sz="1300" dirty="0"/>
          </a:p>
        </p:txBody>
      </p:sp>
      <p:sp>
        <p:nvSpPr>
          <p:cNvPr id="22" name="Text 17"/>
          <p:cNvSpPr/>
          <p:nvPr/>
        </p:nvSpPr>
        <p:spPr>
          <a:xfrm>
            <a:off x="9448716" y="3910212"/>
            <a:ext cx="1727323" cy="29209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6EE7B7"/>
                </a:solidFill>
                <a:latin typeface="IBM Plex Sans" pitchFamily="34" charset="0"/>
                <a:ea typeface="IBM Plex Sans" pitchFamily="34" charset="-122"/>
                <a:cs typeface="IBM Plex Sans" pitchFamily="34" charset="-120"/>
              </a:rPr>
              <a:t>done at 3.25 s</a:t>
            </a:r>
            <a:endParaRPr lang="en-US" sz="1500" dirty="0"/>
          </a:p>
        </p:txBody>
      </p:sp>
      <p:sp>
        <p:nvSpPr>
          <p:cNvPr id="23" name="Text 18"/>
          <p:cNvSpPr/>
          <p:nvPr/>
        </p:nvSpPr>
        <p:spPr>
          <a:xfrm>
            <a:off x="812765" y="4888047"/>
            <a:ext cx="10883436" cy="30984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4BCD0"/>
                </a:solidFill>
                <a:latin typeface="IBM Plex Sans" pitchFamily="34" charset="0"/>
                <a:ea typeface="IBM Plex Sans" pitchFamily="34" charset="-122"/>
                <a:cs typeface="IBM Plex Sans" pitchFamily="34" charset="-120"/>
              </a:rPr>
              <a:t>When the failed part is repaired, traffic </a:t>
            </a:r>
            <a:r>
              <a:rPr lang="en-US" sz="1600" b="1" dirty="0">
                <a:solidFill>
                  <a:srgbClr val="F1F3F9"/>
                </a:solidFill>
                <a:latin typeface="IBM Plex Sans" pitchFamily="34" charset="0"/>
                <a:ea typeface="IBM Plex Sans" pitchFamily="34" charset="-122"/>
                <a:cs typeface="IBM Plex Sans" pitchFamily="34" charset="-120"/>
              </a:rPr>
              <a:t>fails back</a:t>
            </a:r>
            <a:r>
              <a:rPr lang="en-US" sz="1600" dirty="0">
                <a:solidFill>
                  <a:srgbClr val="B4BCD0"/>
                </a:solidFill>
                <a:latin typeface="IBM Plex Sans" pitchFamily="34" charset="0"/>
                <a:ea typeface="IBM Plex Sans" pitchFamily="34" charset="-122"/>
                <a:cs typeface="IBM Plex Sans" pitchFamily="34" charset="-120"/>
              </a:rPr>
              <a:t> to its normal route and the incident closes itself.</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ARCHITECTURE</a:t>
            </a:r>
            <a:endParaRPr lang="en-US" sz="1300" dirty="0"/>
          </a:p>
        </p:txBody>
      </p:sp>
      <p:sp>
        <p:nvSpPr>
          <p:cNvPr id="3" name="Text 1"/>
          <p:cNvSpPr/>
          <p:nvPr>
            <p:ph type="title"/>
          </p:nvPr>
        </p:nvSpPr>
        <p:spPr>
          <a:xfrm>
            <a:off x="812765" y="1145490"/>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Modules talk through one event bus</a:t>
            </a:r>
            <a:endParaRPr lang="en-US" sz="3200" dirty="0"/>
          </a:p>
        </p:txBody>
      </p:sp>
      <p:sp>
        <p:nvSpPr>
          <p:cNvPr id="4" name="Text 2"/>
          <p:cNvSpPr/>
          <p:nvPr/>
        </p:nvSpPr>
        <p:spPr>
          <a:xfrm>
            <a:off x="812765" y="1846486"/>
            <a:ext cx="3793450" cy="54094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Each module publishes an event and the next one reacts:</a:t>
            </a:r>
            <a:endParaRPr lang="en-US" sz="1400" dirty="0"/>
          </a:p>
        </p:txBody>
      </p:sp>
      <p:sp>
        <p:nvSpPr>
          <p:cNvPr id="5" name="Text 3"/>
          <p:cNvSpPr/>
          <p:nvPr/>
        </p:nvSpPr>
        <p:spPr>
          <a:xfrm>
            <a:off x="812765" y="2539829"/>
            <a:ext cx="3793450" cy="55879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A2133"/>
                </a:solidFill>
                <a:latin typeface="IBM Plex Sans" pitchFamily="34" charset="0"/>
                <a:ea typeface="IBM Plex Sans" pitchFamily="34" charset="-122"/>
                <a:cs typeface="IBM Plex Sans" pitchFamily="34" charset="-120"/>
              </a:rPr>
              <a:t>FAULT_DETECTED</a:t>
            </a:r>
            <a:endParaRPr lang="en-US" sz="1400" dirty="0"/>
          </a:p>
          <a:p>
            <a:pPr algn="l" indent="0" marL="0">
              <a:lnSpc>
                <a:spcPts val="2100"/>
              </a:lnSpc>
              <a:buNone/>
            </a:pPr>
            <a:r>
              <a:rPr lang="en-US" sz="1400" dirty="0">
                <a:solidFill>
                  <a:srgbClr val="4A5568"/>
                </a:solidFill>
                <a:latin typeface="IBM Plex Sans" pitchFamily="34" charset="0"/>
                <a:ea typeface="IBM Plex Sans" pitchFamily="34" charset="-122"/>
                <a:cs typeface="IBM Plex Sans" pitchFamily="34" charset="-120"/>
              </a:rPr>
              <a:t>monitor → detector</a:t>
            </a:r>
            <a:endParaRPr lang="en-US" sz="1400" dirty="0"/>
          </a:p>
        </p:txBody>
      </p:sp>
      <p:sp>
        <p:nvSpPr>
          <p:cNvPr id="6" name="Text 4"/>
          <p:cNvSpPr/>
          <p:nvPr/>
        </p:nvSpPr>
        <p:spPr>
          <a:xfrm>
            <a:off x="812765" y="3251014"/>
            <a:ext cx="3793450" cy="55879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A2133"/>
                </a:solidFill>
                <a:latin typeface="IBM Plex Sans" pitchFamily="34" charset="0"/>
                <a:ea typeface="IBM Plex Sans" pitchFamily="34" charset="-122"/>
                <a:cs typeface="IBM Plex Sans" pitchFamily="34" charset="-120"/>
              </a:rPr>
              <a:t>HEALING_COMPLETE</a:t>
            </a:r>
            <a:endParaRPr lang="en-US" sz="1400" dirty="0"/>
          </a:p>
          <a:p>
            <a:pPr algn="l" indent="0" marL="0">
              <a:lnSpc>
                <a:spcPts val="2100"/>
              </a:lnSpc>
              <a:buNone/>
            </a:pPr>
            <a:r>
              <a:rPr lang="en-US" sz="1400" dirty="0">
                <a:solidFill>
                  <a:srgbClr val="4A5568"/>
                </a:solidFill>
                <a:latin typeface="IBM Plex Sans" pitchFamily="34" charset="0"/>
                <a:ea typeface="IBM Plex Sans" pitchFamily="34" charset="-122"/>
                <a:cs typeface="IBM Plex Sans" pitchFamily="34" charset="-120"/>
              </a:rPr>
              <a:t>healer → verifier</a:t>
            </a:r>
            <a:endParaRPr lang="en-US" sz="1400" dirty="0"/>
          </a:p>
        </p:txBody>
      </p:sp>
      <p:sp>
        <p:nvSpPr>
          <p:cNvPr id="7" name="Text 5"/>
          <p:cNvSpPr/>
          <p:nvPr/>
        </p:nvSpPr>
        <p:spPr>
          <a:xfrm>
            <a:off x="812765" y="3962202"/>
            <a:ext cx="3793450" cy="55879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A2133"/>
                </a:solidFill>
                <a:latin typeface="IBM Plex Sans" pitchFamily="34" charset="0"/>
                <a:ea typeface="IBM Plex Sans" pitchFamily="34" charset="-122"/>
                <a:cs typeface="IBM Plex Sans" pitchFamily="34" charset="-120"/>
              </a:rPr>
              <a:t>VERIFICATION_RESULT</a:t>
            </a:r>
            <a:endParaRPr lang="en-US" sz="1400" dirty="0"/>
          </a:p>
          <a:p>
            <a:pPr algn="l" indent="0" marL="0">
              <a:lnSpc>
                <a:spcPts val="2100"/>
              </a:lnSpc>
              <a:buNone/>
            </a:pPr>
            <a:r>
              <a:rPr lang="en-US" sz="1400" dirty="0">
                <a:solidFill>
                  <a:srgbClr val="4A5568"/>
                </a:solidFill>
                <a:latin typeface="IBM Plex Sans" pitchFamily="34" charset="0"/>
                <a:ea typeface="IBM Plex Sans" pitchFamily="34" charset="-122"/>
                <a:cs typeface="IBM Plex Sans" pitchFamily="34" charset="-120"/>
              </a:rPr>
              <a:t>verifier → dashboard</a:t>
            </a:r>
            <a:endParaRPr lang="en-US" sz="1400" dirty="0"/>
          </a:p>
        </p:txBody>
      </p:sp>
      <p:sp>
        <p:nvSpPr>
          <p:cNvPr id="8" name="Text 6"/>
          <p:cNvSpPr/>
          <p:nvPr/>
        </p:nvSpPr>
        <p:spPr>
          <a:xfrm>
            <a:off x="812765" y="4673386"/>
            <a:ext cx="3793450" cy="54094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The database is the single source of truth for the network.</a:t>
            </a:r>
            <a:endParaRPr lang="en-US" sz="1400" dirty="0"/>
          </a:p>
        </p:txBody>
      </p:sp>
      <p:sp>
        <p:nvSpPr>
          <p:cNvPr id="9" name="Shape 7"/>
          <p:cNvSpPr/>
          <p:nvPr/>
        </p:nvSpPr>
        <p:spPr>
          <a:xfrm>
            <a:off x="4800508" y="1846486"/>
            <a:ext cx="6578700" cy="4051280"/>
          </a:xfrm>
          <a:prstGeom prst="roundRect">
            <a:avLst>
              <a:gd name="adj" fmla="val 2508"/>
            </a:avLst>
          </a:prstGeom>
          <a:solidFill>
            <a:srgbClr val="FFFFFF"/>
          </a:solidFill>
          <a:ln/>
        </p:spPr>
      </p:sp>
      <p:pic>
        <p:nvPicPr>
          <p:cNvPr id="10" name="Image 0" descr="Architecture diagram: React dashboard, FastAPI server, health monitor, detector, healer and verifier connected through an event bus, with an SQLite database and the simulated or real network">    </p:cNvPr>
          <p:cNvPicPr>
            <a:picLocks noChangeAspect="1"/>
          </p:cNvPicPr>
          <p:nvPr/>
        </p:nvPicPr>
        <p:blipFill>
          <a:blip r:embed="rId1"/>
          <a:srcRect l="-440" r="-440" t="0" b="0"/>
          <a:stretch/>
        </p:blipFill>
        <p:spPr>
          <a:xfrm>
            <a:off x="4952898" y="1998876"/>
            <a:ext cx="5892784" cy="37464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TECHNOLOGY</a:t>
            </a:r>
            <a:endParaRPr lang="en-US" sz="1300" dirty="0"/>
          </a:p>
        </p:txBody>
      </p:sp>
      <p:sp>
        <p:nvSpPr>
          <p:cNvPr id="3" name="Text 1"/>
          <p:cNvSpPr/>
          <p:nvPr>
            <p:ph type="title"/>
          </p:nvPr>
        </p:nvSpPr>
        <p:spPr>
          <a:xfrm>
            <a:off x="812765" y="1145490"/>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Chosen for tested algorithms and live updates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1908892"/>
          <a:ext cx="10554849" cy="3423060"/>
        </p:xfrm>
        <a:graphic>
          <a:graphicData uri="http://schemas.openxmlformats.org/drawingml/2006/table">
            <a:tbl>
              <a:tblPr/>
              <a:tblGrid>
                <a:gridCol w="2322067"/>
                <a:gridCol w="3588649"/>
                <a:gridCol w="4644134"/>
              </a:tblGrid>
              <a:tr h="489009">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Layer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Technology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21626"/>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21626"/>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Server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Python, FastAPI, Uvicorn</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Runs many probes at once (async)</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Graph</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NetworkX</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Proven Dijkstra and graph tools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Real pings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ping3 (ICMP)</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Works without admin rights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Storage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SQLAlchemy, SQLite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No setup; swap for PostgreSQL</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Dashboard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React, TypeScript, Tailwind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Live view over a WebSocket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Testing</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pytest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48 tests, incl. end-to-end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MODULE 1 · DETECT · PV SAI LIKITH</a:t>
            </a:r>
            <a:endParaRPr lang="en-US" sz="1300" dirty="0"/>
          </a:p>
        </p:txBody>
      </p:sp>
      <p:sp>
        <p:nvSpPr>
          <p:cNvPr id="3" name="Text 1"/>
          <p:cNvSpPr/>
          <p:nvPr>
            <p:ph type="title"/>
          </p:nvPr>
        </p:nvSpPr>
        <p:spPr>
          <a:xfrm>
            <a:off x="812765" y="1145490"/>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The monitor ignores one lost packet</a:t>
            </a:r>
            <a:endParaRPr lang="en-US" sz="3200" dirty="0"/>
          </a:p>
        </p:txBody>
      </p:sp>
      <p:sp>
        <p:nvSpPr>
          <p:cNvPr id="4" name="Text 2"/>
          <p:cNvSpPr/>
          <p:nvPr/>
        </p:nvSpPr>
        <p:spPr>
          <a:xfrm>
            <a:off x="812765" y="1948111"/>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Probe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every device and wire, every 0.5 s (simulation) or 1 s (live)</a:t>
            </a:r>
            <a:endParaRPr lang="en-US" sz="1500" dirty="0"/>
          </a:p>
        </p:txBody>
      </p:sp>
      <p:sp>
        <p:nvSpPr>
          <p:cNvPr id="5" name="Text 3"/>
          <p:cNvSpPr/>
          <p:nvPr/>
        </p:nvSpPr>
        <p:spPr>
          <a:xfrm>
            <a:off x="812765" y="2402157"/>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Measure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latency, packet loss, and jitter between replies</a:t>
            </a:r>
            <a:endParaRPr lang="en-US" sz="1500" dirty="0"/>
          </a:p>
        </p:txBody>
      </p:sp>
      <p:sp>
        <p:nvSpPr>
          <p:cNvPr id="6" name="Text 4"/>
          <p:cNvSpPr/>
          <p:nvPr/>
        </p:nvSpPr>
        <p:spPr>
          <a:xfrm>
            <a:off x="812765" y="2856204"/>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Confirm</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only after 3 bad probes in a row</a:t>
            </a:r>
            <a:endParaRPr lang="en-US" sz="1500" dirty="0"/>
          </a:p>
        </p:txBody>
      </p:sp>
      <p:sp>
        <p:nvSpPr>
          <p:cNvPr id="7" name="Text 5"/>
          <p:cNvSpPr/>
          <p:nvPr/>
        </p:nvSpPr>
        <p:spPr>
          <a:xfrm>
            <a:off x="812765" y="3310251"/>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Announce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a FAULT_DETECTED event to the detector</a:t>
            </a:r>
            <a:endParaRPr lang="en-US" sz="1500" dirty="0"/>
          </a:p>
        </p:txBody>
      </p:sp>
      <p:sp>
        <p:nvSpPr>
          <p:cNvPr id="8" name="Shape 6"/>
          <p:cNvSpPr/>
          <p:nvPr/>
        </p:nvSpPr>
        <p:spPr>
          <a:xfrm>
            <a:off x="7823231" y="1948111"/>
            <a:ext cx="3555977" cy="2631353"/>
          </a:xfrm>
          <a:prstGeom prst="roundRect">
            <a:avLst>
              <a:gd name="adj" fmla="val 3861"/>
            </a:avLst>
          </a:prstGeom>
          <a:solidFill>
            <a:srgbClr val="12172B"/>
          </a:solidFill>
          <a:ln/>
        </p:spPr>
      </p:sp>
      <p:sp>
        <p:nvSpPr>
          <p:cNvPr id="9" name="Text 7"/>
          <p:cNvSpPr/>
          <p:nvPr/>
        </p:nvSpPr>
        <p:spPr>
          <a:xfrm>
            <a:off x="8128012" y="2252892"/>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1F3F9"/>
                </a:solidFill>
                <a:latin typeface="Space Grotesk" pitchFamily="34" charset="0"/>
                <a:ea typeface="Space Grotesk" pitchFamily="34" charset="-122"/>
                <a:cs typeface="Space Grotesk" pitchFamily="34" charset="-120"/>
              </a:rPr>
              <a:t>1.2 s</a:t>
            </a:r>
            <a:endParaRPr lang="en-US" sz="3600" dirty="0"/>
          </a:p>
        </p:txBody>
      </p:sp>
      <p:sp>
        <p:nvSpPr>
          <p:cNvPr id="10" name="Text 8"/>
          <p:cNvSpPr/>
          <p:nvPr/>
        </p:nvSpPr>
        <p:spPr>
          <a:xfrm>
            <a:off x="8128012" y="2931061"/>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link cut confirmed (simulation)</a:t>
            </a:r>
            <a:endParaRPr lang="en-US" sz="1300" dirty="0"/>
          </a:p>
        </p:txBody>
      </p:sp>
      <p:sp>
        <p:nvSpPr>
          <p:cNvPr id="11" name="Text 9"/>
          <p:cNvSpPr/>
          <p:nvPr/>
        </p:nvSpPr>
        <p:spPr>
          <a:xfrm>
            <a:off x="8128012" y="3365364"/>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1F3F9"/>
                </a:solidFill>
                <a:latin typeface="Space Grotesk" pitchFamily="34" charset="0"/>
                <a:ea typeface="Space Grotesk" pitchFamily="34" charset="-122"/>
                <a:cs typeface="Space Grotesk" pitchFamily="34" charset="-120"/>
              </a:rPr>
              <a:t>6.2–6.5 s</a:t>
            </a:r>
            <a:endParaRPr lang="en-US" sz="3600" dirty="0"/>
          </a:p>
        </p:txBody>
      </p:sp>
      <p:sp>
        <p:nvSpPr>
          <p:cNvPr id="12" name="Text 10"/>
          <p:cNvSpPr/>
          <p:nvPr/>
        </p:nvSpPr>
        <p:spPr>
          <a:xfrm>
            <a:off x="8128012" y="4043536"/>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real device switched off (live)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MODULE 2 · DECIDE · B. NAVEEN</a:t>
            </a:r>
            <a:endParaRPr lang="en-US" sz="1300" dirty="0"/>
          </a:p>
        </p:txBody>
      </p:sp>
      <p:sp>
        <p:nvSpPr>
          <p:cNvPr id="3" name="Text 1"/>
          <p:cNvSpPr/>
          <p:nvPr>
            <p:ph type="title"/>
          </p:nvPr>
        </p:nvSpPr>
        <p:spPr>
          <a:xfrm>
            <a:off x="812765" y="1145490"/>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The detour is chosen before the failure</a:t>
            </a:r>
            <a:endParaRPr lang="en-US" sz="3200" dirty="0"/>
          </a:p>
        </p:txBody>
      </p:sp>
      <p:sp>
        <p:nvSpPr>
          <p:cNvPr id="4" name="Text 2"/>
          <p:cNvSpPr/>
          <p:nvPr/>
        </p:nvSpPr>
        <p:spPr>
          <a:xfrm>
            <a:off x="812765" y="1948111"/>
            <a:ext cx="7010466"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Classify</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over 200 ms or 10 % loss is critical; a z-score flags unusual readings</a:t>
            </a:r>
            <a:endParaRPr lang="en-US" sz="1500" dirty="0"/>
          </a:p>
        </p:txBody>
      </p:sp>
      <p:sp>
        <p:nvSpPr>
          <p:cNvPr id="5" name="Text 3"/>
          <p:cNvSpPr/>
          <p:nvPr/>
        </p:nvSpPr>
        <p:spPr>
          <a:xfrm>
            <a:off x="812765" y="2402157"/>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Root cause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a crashed device explains all its broken wires: one incident</a:t>
            </a:r>
            <a:endParaRPr lang="en-US" sz="1500" dirty="0"/>
          </a:p>
        </p:txBody>
      </p:sp>
      <p:sp>
        <p:nvSpPr>
          <p:cNvPr id="6" name="Text 4"/>
          <p:cNvSpPr/>
          <p:nvPr/>
        </p:nvSpPr>
        <p:spPr>
          <a:xfrm>
            <a:off x="812765" y="2856204"/>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Backup table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a stored detour for every route and every part on it</a:t>
            </a:r>
            <a:endParaRPr lang="en-US" sz="1500" dirty="0"/>
          </a:p>
        </p:txBody>
      </p:sp>
      <p:sp>
        <p:nvSpPr>
          <p:cNvPr id="7" name="Text 5"/>
          <p:cNvSpPr/>
          <p:nvPr/>
        </p:nvSpPr>
        <p:spPr>
          <a:xfrm>
            <a:off x="812765" y="3310251"/>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Fallback</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Dijkstra on the healthy network if two things fail</a:t>
            </a:r>
            <a:endParaRPr lang="en-US" sz="1500" dirty="0"/>
          </a:p>
        </p:txBody>
      </p:sp>
      <p:sp>
        <p:nvSpPr>
          <p:cNvPr id="8" name="Shape 6"/>
          <p:cNvSpPr/>
          <p:nvPr/>
        </p:nvSpPr>
        <p:spPr>
          <a:xfrm>
            <a:off x="7823231" y="1948111"/>
            <a:ext cx="3555977" cy="2631353"/>
          </a:xfrm>
          <a:prstGeom prst="roundRect">
            <a:avLst>
              <a:gd name="adj" fmla="val 3861"/>
            </a:avLst>
          </a:prstGeom>
          <a:solidFill>
            <a:srgbClr val="12172B"/>
          </a:solidFill>
          <a:ln/>
        </p:spPr>
      </p:sp>
      <p:sp>
        <p:nvSpPr>
          <p:cNvPr id="9" name="Text 7"/>
          <p:cNvSpPr/>
          <p:nvPr/>
        </p:nvSpPr>
        <p:spPr>
          <a:xfrm>
            <a:off x="8128012" y="2252892"/>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1F3F9"/>
                </a:solidFill>
                <a:latin typeface="Space Grotesk" pitchFamily="34" charset="0"/>
                <a:ea typeface="Space Grotesk" pitchFamily="34" charset="-122"/>
                <a:cs typeface="Space Grotesk" pitchFamily="34" charset="-120"/>
              </a:rPr>
              <a:t>0.003 ms</a:t>
            </a:r>
            <a:endParaRPr lang="en-US" sz="3600" dirty="0"/>
          </a:p>
        </p:txBody>
      </p:sp>
      <p:sp>
        <p:nvSpPr>
          <p:cNvPr id="10" name="Text 8"/>
          <p:cNvSpPr/>
          <p:nvPr/>
        </p:nvSpPr>
        <p:spPr>
          <a:xfrm>
            <a:off x="8128012" y="2931061"/>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stored detour lookup (200 devices)</a:t>
            </a:r>
            <a:endParaRPr lang="en-US" sz="1300" dirty="0"/>
          </a:p>
        </p:txBody>
      </p:sp>
      <p:sp>
        <p:nvSpPr>
          <p:cNvPr id="11" name="Text 9"/>
          <p:cNvSpPr/>
          <p:nvPr/>
        </p:nvSpPr>
        <p:spPr>
          <a:xfrm>
            <a:off x="8128012" y="3365364"/>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1F3F9"/>
                </a:solidFill>
                <a:latin typeface="Space Grotesk" pitchFamily="34" charset="0"/>
                <a:ea typeface="Space Grotesk" pitchFamily="34" charset="-122"/>
                <a:cs typeface="Space Grotesk" pitchFamily="34" charset="-120"/>
              </a:rPr>
              <a:t>0.39 ms</a:t>
            </a:r>
            <a:endParaRPr lang="en-US" sz="3600" dirty="0"/>
          </a:p>
        </p:txBody>
      </p:sp>
      <p:sp>
        <p:nvSpPr>
          <p:cNvPr id="12" name="Text 10"/>
          <p:cNvSpPr/>
          <p:nvPr/>
        </p:nvSpPr>
        <p:spPr>
          <a:xfrm>
            <a:off x="8128012" y="4043539"/>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fresh Dijkstra, same network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47857"/>
                </a:solidFill>
                <a:latin typeface="IBM Plex Sans" pitchFamily="34" charset="0"/>
                <a:ea typeface="IBM Plex Sans" pitchFamily="34" charset="-122"/>
                <a:cs typeface="IBM Plex Sans" pitchFamily="34" charset="-120"/>
              </a:rPr>
              <a:t>MODULE 3 · HEAL &amp; VERIFY · M. NAYAN</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A reroute only counts once it is tested</a:t>
            </a:r>
            <a:endParaRPr lang="en-US" sz="3200" dirty="0"/>
          </a:p>
        </p:txBody>
      </p:sp>
      <p:sp>
        <p:nvSpPr>
          <p:cNvPr id="4" name="Text 2"/>
          <p:cNvSpPr/>
          <p:nvPr/>
        </p:nvSpPr>
        <p:spPr>
          <a:xfrm>
            <a:off x="812765" y="1948111"/>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Reroute</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every affected route moves to its detour</a:t>
            </a:r>
            <a:endParaRPr lang="en-US" sz="1500" dirty="0"/>
          </a:p>
        </p:txBody>
      </p:sp>
      <p:sp>
        <p:nvSpPr>
          <p:cNvPr id="5" name="Text 3"/>
          <p:cNvSpPr/>
          <p:nvPr/>
        </p:nvSpPr>
        <p:spPr>
          <a:xfrm>
            <a:off x="812765" y="2402154"/>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Settle, then test</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wait 2 s, then probe every hop of the new path</a:t>
            </a:r>
            <a:endParaRPr lang="en-US" sz="1500" dirty="0"/>
          </a:p>
        </p:txBody>
      </p:sp>
      <p:sp>
        <p:nvSpPr>
          <p:cNvPr id="6" name="Text 4"/>
          <p:cNvSpPr/>
          <p:nvPr/>
        </p:nvSpPr>
        <p:spPr>
          <a:xfrm>
            <a:off x="812765" y="2856204"/>
            <a:ext cx="6854519" cy="577901"/>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Pass or roll back</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pass at ≤ 300 ms and ≤ 15 % loss; otherwise undo and escalate with the reason</a:t>
            </a:r>
            <a:endParaRPr lang="en-US" sz="1500" dirty="0"/>
          </a:p>
        </p:txBody>
      </p:sp>
      <p:sp>
        <p:nvSpPr>
          <p:cNvPr id="7" name="Text 5"/>
          <p:cNvSpPr/>
          <p:nvPr/>
        </p:nvSpPr>
        <p:spPr>
          <a:xfrm>
            <a:off x="812765" y="3586504"/>
            <a:ext cx="6854519" cy="3016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2133"/>
                </a:solidFill>
                <a:latin typeface="IBM Plex Sans" pitchFamily="34" charset="0"/>
                <a:ea typeface="IBM Plex Sans" pitchFamily="34" charset="-122"/>
                <a:cs typeface="IBM Plex Sans" pitchFamily="34" charset="-120"/>
              </a:rPr>
              <a:t>Fail back</a:t>
            </a:r>
            <a:r>
              <a:rPr lang="en-US" sz="1500" dirty="0">
                <a:solidFill>
                  <a:srgbClr val="1A2133"/>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return to the normal route after repair</a:t>
            </a:r>
            <a:endParaRPr lang="en-US" sz="1500" dirty="0"/>
          </a:p>
        </p:txBody>
      </p:sp>
      <p:sp>
        <p:nvSpPr>
          <p:cNvPr id="8" name="Shape 6"/>
          <p:cNvSpPr/>
          <p:nvPr/>
        </p:nvSpPr>
        <p:spPr>
          <a:xfrm>
            <a:off x="7823231" y="1948111"/>
            <a:ext cx="3555977" cy="2631353"/>
          </a:xfrm>
          <a:prstGeom prst="roundRect">
            <a:avLst>
              <a:gd name="adj" fmla="val 3861"/>
            </a:avLst>
          </a:prstGeom>
          <a:solidFill>
            <a:srgbClr val="12172B"/>
          </a:solidFill>
          <a:ln/>
        </p:spPr>
      </p:sp>
      <p:sp>
        <p:nvSpPr>
          <p:cNvPr id="9" name="Text 7"/>
          <p:cNvSpPr/>
          <p:nvPr/>
        </p:nvSpPr>
        <p:spPr>
          <a:xfrm>
            <a:off x="8128012" y="2252892"/>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EE7B7"/>
                </a:solidFill>
                <a:latin typeface="Space Grotesk" pitchFamily="34" charset="0"/>
                <a:ea typeface="Space Grotesk" pitchFamily="34" charset="-122"/>
                <a:cs typeface="Space Grotesk" pitchFamily="34" charset="-120"/>
              </a:rPr>
              <a:t>5–11 ms</a:t>
            </a:r>
            <a:endParaRPr lang="en-US" sz="3600" dirty="0"/>
          </a:p>
        </p:txBody>
      </p:sp>
      <p:sp>
        <p:nvSpPr>
          <p:cNvPr id="10" name="Text 8"/>
          <p:cNvSpPr/>
          <p:nvPr/>
        </p:nvSpPr>
        <p:spPr>
          <a:xfrm>
            <a:off x="8128012" y="2931065"/>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to choose and apply the detour</a:t>
            </a:r>
            <a:endParaRPr lang="en-US" sz="1300" dirty="0"/>
          </a:p>
        </p:txBody>
      </p:sp>
      <p:sp>
        <p:nvSpPr>
          <p:cNvPr id="11" name="Text 9"/>
          <p:cNvSpPr/>
          <p:nvPr/>
        </p:nvSpPr>
        <p:spPr>
          <a:xfrm>
            <a:off x="8128012" y="3365364"/>
            <a:ext cx="3034807" cy="66548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EE7B7"/>
                </a:solidFill>
                <a:latin typeface="Space Grotesk" pitchFamily="34" charset="0"/>
                <a:ea typeface="Space Grotesk" pitchFamily="34" charset="-122"/>
                <a:cs typeface="Space Grotesk" pitchFamily="34" charset="-120"/>
              </a:rPr>
              <a:t>3.25 s</a:t>
            </a:r>
            <a:endParaRPr lang="en-US" sz="3600" dirty="0"/>
          </a:p>
        </p:txBody>
      </p:sp>
      <p:sp>
        <p:nvSpPr>
          <p:cNvPr id="12" name="Text 10"/>
          <p:cNvSpPr/>
          <p:nvPr/>
        </p:nvSpPr>
        <p:spPr>
          <a:xfrm>
            <a:off x="8128012" y="4043536"/>
            <a:ext cx="3034807"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CD0"/>
                </a:solidFill>
                <a:latin typeface="IBM Plex Sans" pitchFamily="34" charset="0"/>
                <a:ea typeface="IBM Plex Sans" pitchFamily="34" charset="-122"/>
                <a:cs typeface="IBM Plex Sans" pitchFamily="34" charset="-120"/>
              </a:rPr>
              <a:t>failure to verified fix (simulation)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THE DASHBOARD</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Every fault and fix, as it happens</a:t>
            </a:r>
            <a:endParaRPr lang="en-US" sz="3200" dirty="0"/>
          </a:p>
        </p:txBody>
      </p:sp>
      <p:sp>
        <p:nvSpPr>
          <p:cNvPr id="4" name="Text 2"/>
          <p:cNvSpPr/>
          <p:nvPr/>
        </p:nvSpPr>
        <p:spPr>
          <a:xfrm>
            <a:off x="812765" y="1846486"/>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Topology</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red for the broken link, green for the detour</a:t>
            </a:r>
            <a:endParaRPr lang="en-US" sz="1400" dirty="0"/>
          </a:p>
        </p:txBody>
      </p:sp>
      <p:sp>
        <p:nvSpPr>
          <p:cNvPr id="5" name="Text 3"/>
          <p:cNvSpPr/>
          <p:nvPr/>
        </p:nvSpPr>
        <p:spPr>
          <a:xfrm>
            <a:off x="812765" y="2539826"/>
            <a:ext cx="3662656" cy="7987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Incidents</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a timeline: detected, diagnosed, rerouted, verified</a:t>
            </a:r>
            <a:endParaRPr lang="en-US" sz="1400" dirty="0"/>
          </a:p>
        </p:txBody>
      </p:sp>
      <p:sp>
        <p:nvSpPr>
          <p:cNvPr id="6" name="Text 4"/>
          <p:cNvSpPr/>
          <p:nvPr/>
        </p:nvSpPr>
        <p:spPr>
          <a:xfrm>
            <a:off x="812765" y="3490944"/>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Metrics</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latency, loss and jitter per device</a:t>
            </a:r>
            <a:endParaRPr lang="en-US" sz="1400" dirty="0"/>
          </a:p>
        </p:txBody>
      </p:sp>
      <p:sp>
        <p:nvSpPr>
          <p:cNvPr id="7" name="Text 5"/>
          <p:cNvSpPr/>
          <p:nvPr/>
        </p:nvSpPr>
        <p:spPr>
          <a:xfrm>
            <a:off x="812765" y="4184284"/>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Simulator</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cut a link or crash a router on purpose</a:t>
            </a:r>
            <a:endParaRPr lang="en-US" sz="1400" dirty="0"/>
          </a:p>
        </p:txBody>
      </p:sp>
      <p:sp>
        <p:nvSpPr>
          <p:cNvPr id="8" name="Shape 6"/>
          <p:cNvSpPr/>
          <p:nvPr/>
        </p:nvSpPr>
        <p:spPr>
          <a:xfrm>
            <a:off x="4673523" y="1846486"/>
            <a:ext cx="6705684" cy="4013149"/>
          </a:xfrm>
          <a:prstGeom prst="roundRect">
            <a:avLst>
              <a:gd name="adj" fmla="val 2532"/>
            </a:avLst>
          </a:prstGeom>
          <a:solidFill>
            <a:srgbClr val="FFFFFF"/>
          </a:solidFill>
          <a:ln/>
        </p:spPr>
      </p:sp>
      <p:pic>
        <p:nvPicPr>
          <p:cNvPr id="9" name="Image 0" descr="Operations dashboard after a link cut: the severed link in red and the healed detour through server-d in green">    </p:cNvPr>
          <p:cNvPicPr>
            <a:picLocks noChangeAspect="1"/>
          </p:cNvPicPr>
          <p:nvPr/>
        </p:nvPicPr>
        <p:blipFill>
          <a:blip r:embed="rId1"/>
          <a:srcRect l="-3333" r="-3333" t="0" b="0"/>
          <a:stretch/>
        </p:blipFill>
        <p:spPr>
          <a:xfrm>
            <a:off x="4775102" y="1948061"/>
            <a:ext cx="6502391" cy="38099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9"/>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47857"/>
                </a:solidFill>
                <a:latin typeface="IBM Plex Sans" pitchFamily="34" charset="0"/>
                <a:ea typeface="IBM Plex Sans" pitchFamily="34" charset="-122"/>
                <a:cs typeface="IBM Plex Sans" pitchFamily="34" charset="-120"/>
              </a:rPr>
              <a:t>LIVE MODE</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Draw your own network, then ping it for real</a:t>
            </a:r>
            <a:endParaRPr lang="en-US" sz="3200" dirty="0"/>
          </a:p>
        </p:txBody>
      </p:sp>
      <p:sp>
        <p:nvSpPr>
          <p:cNvPr id="4" name="Shape 2"/>
          <p:cNvSpPr/>
          <p:nvPr/>
        </p:nvSpPr>
        <p:spPr>
          <a:xfrm>
            <a:off x="812765" y="1846486"/>
            <a:ext cx="6705684" cy="4013149"/>
          </a:xfrm>
          <a:prstGeom prst="roundRect">
            <a:avLst>
              <a:gd name="adj" fmla="val 2532"/>
            </a:avLst>
          </a:prstGeom>
          <a:solidFill>
            <a:srgbClr val="FFFFFF"/>
          </a:solidFill>
          <a:ln/>
        </p:spPr>
      </p:sp>
      <p:pic>
        <p:nvPicPr>
          <p:cNvPr id="5" name="Image 0" descr="Topology editor with routers, switches and servers connected by wires">    </p:cNvPr>
          <p:cNvPicPr>
            <a:picLocks noChangeAspect="1"/>
          </p:cNvPicPr>
          <p:nvPr/>
        </p:nvPicPr>
        <p:blipFill>
          <a:blip r:embed="rId1"/>
          <a:srcRect l="-3333" r="-3333" t="0" b="0"/>
          <a:stretch/>
        </p:blipFill>
        <p:spPr>
          <a:xfrm>
            <a:off x="914344" y="1948067"/>
            <a:ext cx="6502391" cy="3809991"/>
          </a:xfrm>
          <a:prstGeom prst="rect">
            <a:avLst/>
          </a:prstGeom>
        </p:spPr>
      </p:pic>
      <p:sp>
        <p:nvSpPr>
          <p:cNvPr id="6" name="Text 3"/>
          <p:cNvSpPr/>
          <p:nvPr/>
        </p:nvSpPr>
        <p:spPr>
          <a:xfrm>
            <a:off x="7823231" y="1846486"/>
            <a:ext cx="3662656" cy="7987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Add devices</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servers, routers, switches with a real IP address</a:t>
            </a:r>
            <a:endParaRPr lang="en-US" sz="1400" dirty="0"/>
          </a:p>
        </p:txBody>
      </p:sp>
      <p:sp>
        <p:nvSpPr>
          <p:cNvPr id="7" name="Text 4"/>
          <p:cNvSpPr/>
          <p:nvPr/>
        </p:nvSpPr>
        <p:spPr>
          <a:xfrm>
            <a:off x="7823231" y="2797603"/>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Connect wires</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drawn in the editor, saved in the database</a:t>
            </a:r>
            <a:endParaRPr lang="en-US" sz="1400" dirty="0"/>
          </a:p>
        </p:txBody>
      </p:sp>
      <p:sp>
        <p:nvSpPr>
          <p:cNvPr id="8" name="Text 5"/>
          <p:cNvSpPr/>
          <p:nvPr/>
        </p:nvSpPr>
        <p:spPr>
          <a:xfrm>
            <a:off x="7823231" y="3490944"/>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Real pings</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router 5.9 ms, Google DNS 44.5 ms median</a:t>
            </a:r>
            <a:endParaRPr lang="en-US" sz="1400" dirty="0"/>
          </a:p>
        </p:txBody>
      </p:sp>
      <p:sp>
        <p:nvSpPr>
          <p:cNvPr id="9" name="Text 6"/>
          <p:cNvSpPr/>
          <p:nvPr/>
        </p:nvSpPr>
        <p:spPr>
          <a:xfrm>
            <a:off x="7823231" y="4184290"/>
            <a:ext cx="3662656" cy="54094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A2133"/>
                </a:solidFill>
                <a:latin typeface="IBM Plex Sans" pitchFamily="34" charset="0"/>
                <a:ea typeface="IBM Plex Sans" pitchFamily="34" charset="-122"/>
                <a:cs typeface="IBM Plex Sans" pitchFamily="34" charset="-120"/>
              </a:rPr>
              <a:t>Real healing</a:t>
            </a:r>
            <a:endParaRPr lang="en-US" sz="1400" dirty="0"/>
          </a:p>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wire cut rerouted via Cloudflare in 4.5 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2B"/>
        </a:solidFill>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5B4FC"/>
                </a:solidFill>
                <a:latin typeface="IBM Plex Sans" pitchFamily="34" charset="0"/>
                <a:ea typeface="IBM Plex Sans" pitchFamily="34" charset="-122"/>
                <a:cs typeface="IBM Plex Sans" pitchFamily="34" charset="-120"/>
              </a:rPr>
              <a:t>RESULTS</a:t>
            </a:r>
            <a:endParaRPr lang="en-US" sz="1300" dirty="0"/>
          </a:p>
        </p:txBody>
      </p:sp>
      <p:sp>
        <p:nvSpPr>
          <p:cNvPr id="3" name="Text 1"/>
          <p:cNvSpPr/>
          <p:nvPr>
            <p:ph type="title"/>
          </p:nvPr>
        </p:nvSpPr>
        <p:spPr>
          <a:xfrm>
            <a:off x="812765" y="1145487"/>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3F9"/>
                </a:solidFill>
                <a:latin typeface="Space Grotesk" pitchFamily="34" charset="0"/>
                <a:ea typeface="Space Grotesk" pitchFamily="34" charset="-122"/>
                <a:cs typeface="Space Grotesk" pitchFamily="34" charset="-120"/>
              </a:rPr>
              <a:t>Every test run ended correctly</a:t>
            </a:r>
            <a:endParaRPr lang="en-US" sz="3600" dirty="0"/>
          </a:p>
        </p:txBody>
      </p:sp>
      <p:sp>
        <p:nvSpPr>
          <p:cNvPr id="4" name="Text 2"/>
          <p:cNvSpPr/>
          <p:nvPr/>
        </p:nvSpPr>
        <p:spPr>
          <a:xfrm>
            <a:off x="812765" y="2054758"/>
            <a:ext cx="3418513"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6EE7B7"/>
                </a:solidFill>
                <a:latin typeface="Space Grotesk" pitchFamily="34" charset="0"/>
                <a:ea typeface="Space Grotesk" pitchFamily="34" charset="-122"/>
                <a:cs typeface="Space Grotesk" pitchFamily="34" charset="-120"/>
              </a:rPr>
              <a:t>3.25 s</a:t>
            </a:r>
            <a:endParaRPr lang="en-US" sz="4800" dirty="0"/>
          </a:p>
        </p:txBody>
      </p:sp>
      <p:sp>
        <p:nvSpPr>
          <p:cNvPr id="5" name="Text 3"/>
          <p:cNvSpPr/>
          <p:nvPr/>
        </p:nvSpPr>
        <p:spPr>
          <a:xfrm>
            <a:off x="812765" y="2958957"/>
            <a:ext cx="341851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failure to verified fix, simulation</a:t>
            </a:r>
            <a:endParaRPr lang="en-US" sz="1400" dirty="0"/>
          </a:p>
        </p:txBody>
      </p:sp>
      <p:sp>
        <p:nvSpPr>
          <p:cNvPr id="6" name="Text 4"/>
          <p:cNvSpPr/>
          <p:nvPr/>
        </p:nvSpPr>
        <p:spPr>
          <a:xfrm>
            <a:off x="4436491" y="2054758"/>
            <a:ext cx="3418513"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6EE7B7"/>
                </a:solidFill>
                <a:latin typeface="Space Grotesk" pitchFamily="34" charset="0"/>
                <a:ea typeface="Space Grotesk" pitchFamily="34" charset="-122"/>
                <a:cs typeface="Space Grotesk" pitchFamily="34" charset="-120"/>
              </a:rPr>
              <a:t>6.53 s</a:t>
            </a:r>
            <a:endParaRPr lang="en-US" sz="4800" dirty="0"/>
          </a:p>
        </p:txBody>
      </p:sp>
      <p:sp>
        <p:nvSpPr>
          <p:cNvPr id="7" name="Text 5"/>
          <p:cNvSpPr/>
          <p:nvPr/>
        </p:nvSpPr>
        <p:spPr>
          <a:xfrm>
            <a:off x="4436491" y="2958957"/>
            <a:ext cx="341851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failure to verified fix, real devices</a:t>
            </a:r>
            <a:endParaRPr lang="en-US" sz="1400" dirty="0"/>
          </a:p>
        </p:txBody>
      </p:sp>
      <p:sp>
        <p:nvSpPr>
          <p:cNvPr id="8" name="Text 6"/>
          <p:cNvSpPr/>
          <p:nvPr/>
        </p:nvSpPr>
        <p:spPr>
          <a:xfrm>
            <a:off x="8060217" y="2054758"/>
            <a:ext cx="3418560"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1F3F9"/>
                </a:solidFill>
                <a:latin typeface="Space Grotesk" pitchFamily="34" charset="0"/>
                <a:ea typeface="Space Grotesk" pitchFamily="34" charset="-122"/>
                <a:cs typeface="Space Grotesk" pitchFamily="34" charset="-120"/>
              </a:rPr>
              <a:t>48 / 48</a:t>
            </a:r>
            <a:endParaRPr lang="en-US" sz="4800" dirty="0"/>
          </a:p>
        </p:txBody>
      </p:sp>
      <p:sp>
        <p:nvSpPr>
          <p:cNvPr id="9" name="Text 7"/>
          <p:cNvSpPr/>
          <p:nvPr/>
        </p:nvSpPr>
        <p:spPr>
          <a:xfrm>
            <a:off x="8060217" y="2958957"/>
            <a:ext cx="341856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automated tests pass</a:t>
            </a:r>
            <a:endParaRPr lang="en-US" sz="1400" dirty="0"/>
          </a:p>
        </p:txBody>
      </p:sp>
      <p:sp>
        <p:nvSpPr>
          <p:cNvPr id="10" name="Text 8"/>
          <p:cNvSpPr/>
          <p:nvPr/>
        </p:nvSpPr>
        <p:spPr>
          <a:xfrm>
            <a:off x="812765" y="3563448"/>
            <a:ext cx="3418513"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1F3F9"/>
                </a:solidFill>
                <a:latin typeface="Space Grotesk" pitchFamily="34" charset="0"/>
                <a:ea typeface="Space Grotesk" pitchFamily="34" charset="-122"/>
                <a:cs typeface="Space Grotesk" pitchFamily="34" charset="-120"/>
              </a:rPr>
              <a:t>55 / 55</a:t>
            </a:r>
            <a:endParaRPr lang="en-US" sz="4800" dirty="0"/>
          </a:p>
        </p:txBody>
      </p:sp>
      <p:sp>
        <p:nvSpPr>
          <p:cNvPr id="11" name="Text 9"/>
          <p:cNvSpPr/>
          <p:nvPr/>
        </p:nvSpPr>
        <p:spPr>
          <a:xfrm>
            <a:off x="812765" y="4467647"/>
            <a:ext cx="3418513"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simulated runs correct: 30 healed, 25 escalated</a:t>
            </a:r>
            <a:endParaRPr lang="en-US" sz="1400" dirty="0"/>
          </a:p>
        </p:txBody>
      </p:sp>
      <p:sp>
        <p:nvSpPr>
          <p:cNvPr id="12" name="Text 10"/>
          <p:cNvSpPr/>
          <p:nvPr/>
        </p:nvSpPr>
        <p:spPr>
          <a:xfrm>
            <a:off x="4436491" y="3563448"/>
            <a:ext cx="3418513"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1F3F9"/>
                </a:solidFill>
                <a:latin typeface="Space Grotesk" pitchFamily="34" charset="0"/>
                <a:ea typeface="Space Grotesk" pitchFamily="34" charset="-122"/>
                <a:cs typeface="Space Grotesk" pitchFamily="34" charset="-120"/>
              </a:rPr>
              <a:t>10 / 10</a:t>
            </a:r>
            <a:endParaRPr lang="en-US" sz="4800" dirty="0"/>
          </a:p>
        </p:txBody>
      </p:sp>
      <p:sp>
        <p:nvSpPr>
          <p:cNvPr id="13" name="Text 11"/>
          <p:cNvSpPr/>
          <p:nvPr/>
        </p:nvSpPr>
        <p:spPr>
          <a:xfrm>
            <a:off x="4436491" y="4467647"/>
            <a:ext cx="341851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live runs on real devices correct</a:t>
            </a:r>
            <a:endParaRPr lang="en-US" sz="1400" dirty="0"/>
          </a:p>
        </p:txBody>
      </p:sp>
      <p:sp>
        <p:nvSpPr>
          <p:cNvPr id="14" name="Text 12"/>
          <p:cNvSpPr/>
          <p:nvPr/>
        </p:nvSpPr>
        <p:spPr>
          <a:xfrm>
            <a:off x="8060217" y="3563448"/>
            <a:ext cx="3418560"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1F3F9"/>
                </a:solidFill>
                <a:latin typeface="Space Grotesk" pitchFamily="34" charset="0"/>
                <a:ea typeface="Space Grotesk" pitchFamily="34" charset="-122"/>
                <a:cs typeface="Space Grotesk" pitchFamily="34" charset="-120"/>
              </a:rPr>
              <a:t>615</a:t>
            </a:r>
            <a:endParaRPr lang="en-US" sz="4800" dirty="0"/>
          </a:p>
        </p:txBody>
      </p:sp>
      <p:sp>
        <p:nvSpPr>
          <p:cNvPr id="15" name="Text 13"/>
          <p:cNvSpPr/>
          <p:nvPr/>
        </p:nvSpPr>
        <p:spPr>
          <a:xfrm>
            <a:off x="8060217" y="4467647"/>
            <a:ext cx="341856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real pings per device measured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9"/>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PERFORMANCE</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The safety waits take the time, not the reroute</a:t>
            </a:r>
            <a:endParaRPr lang="en-US" sz="3200" dirty="0"/>
          </a:p>
        </p:txBody>
      </p:sp>
      <p:sp>
        <p:nvSpPr>
          <p:cNvPr id="4" name="Shape 2"/>
          <p:cNvSpPr/>
          <p:nvPr/>
        </p:nvSpPr>
        <p:spPr>
          <a:xfrm>
            <a:off x="812765" y="1897298"/>
            <a:ext cx="5156237" cy="2012869"/>
          </a:xfrm>
          <a:prstGeom prst="roundRect">
            <a:avLst>
              <a:gd name="adj" fmla="val 5048"/>
            </a:avLst>
          </a:prstGeom>
          <a:solidFill>
            <a:srgbClr val="FFFFFF"/>
          </a:solidFill>
          <a:ln/>
        </p:spPr>
      </p:sp>
      <p:pic>
        <p:nvPicPr>
          <p:cNvPr id="5" name="Image 0" descr="Recovery time breakdown: detection and the 2 second settling wait take almost all of the time; the reroute itself takes milliseconds">    </p:cNvPr>
          <p:cNvPicPr>
            <a:picLocks noChangeAspect="1"/>
          </p:cNvPicPr>
          <p:nvPr/>
        </p:nvPicPr>
        <p:blipFill>
          <a:blip r:embed="rId1"/>
          <a:srcRect l="0" r="0" t="-109" b="-109"/>
          <a:stretch/>
        </p:blipFill>
        <p:spPr>
          <a:xfrm>
            <a:off x="914344" y="1998880"/>
            <a:ext cx="4952989" cy="1809712"/>
          </a:xfrm>
          <a:prstGeom prst="rect">
            <a:avLst/>
          </a:prstGeom>
        </p:spPr>
      </p:pic>
      <p:sp>
        <p:nvSpPr>
          <p:cNvPr id="6" name="Text 3"/>
          <p:cNvSpPr/>
          <p:nvPr/>
        </p:nvSpPr>
        <p:spPr>
          <a:xfrm>
            <a:off x="812765" y="4037149"/>
            <a:ext cx="5310924"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133"/>
                </a:solidFill>
                <a:latin typeface="IBM Plex Sans" pitchFamily="34" charset="0"/>
                <a:ea typeface="IBM Plex Sans" pitchFamily="34" charset="-122"/>
                <a:cs typeface="IBM Plex Sans" pitchFamily="34" charset="-120"/>
              </a:rPr>
              <a:t>Recovery time:</a:t>
            </a:r>
            <a:r>
              <a:rPr lang="en-US" sz="1300" dirty="0">
                <a:solidFill>
                  <a:srgbClr val="4A5568"/>
                </a:solidFill>
                <a:latin typeface="IBM Plex Sans" pitchFamily="34" charset="0"/>
                <a:ea typeface="IBM Plex Sans" pitchFamily="34" charset="-122"/>
                <a:cs typeface="IBM Plex Sans" pitchFamily="34" charset="-120"/>
              </a:rPr>
              <a:t> confirmation and the 2 s wait dominate; choosing the detour takes 5–11 ms.</a:t>
            </a:r>
            <a:endParaRPr lang="en-US" sz="1300" dirty="0"/>
          </a:p>
        </p:txBody>
      </p:sp>
      <p:sp>
        <p:nvSpPr>
          <p:cNvPr id="7" name="Shape 4"/>
          <p:cNvSpPr/>
          <p:nvPr/>
        </p:nvSpPr>
        <p:spPr>
          <a:xfrm>
            <a:off x="6222971" y="1897298"/>
            <a:ext cx="5156237" cy="2330376"/>
          </a:xfrm>
          <a:prstGeom prst="roundRect">
            <a:avLst>
              <a:gd name="adj" fmla="val 4360"/>
            </a:avLst>
          </a:prstGeom>
          <a:solidFill>
            <a:srgbClr val="FFFFFF"/>
          </a:solidFill>
          <a:ln/>
        </p:spPr>
      </p:sp>
      <p:pic>
        <p:nvPicPr>
          <p:cNvPr id="8" name="Image 1" descr="Stored detour lookup stays near a microsecond as the network grows, while a fresh Dijkstra run grows with it">    </p:cNvPr>
          <p:cNvPicPr>
            <a:picLocks noChangeAspect="1"/>
          </p:cNvPicPr>
          <p:nvPr/>
        </p:nvPicPr>
        <p:blipFill>
          <a:blip r:embed="rId2"/>
          <a:srcRect l="-67" r="-67" t="0" b="0"/>
          <a:stretch/>
        </p:blipFill>
        <p:spPr>
          <a:xfrm>
            <a:off x="6324550" y="1998880"/>
            <a:ext cx="4952989" cy="2127219"/>
          </a:xfrm>
          <a:prstGeom prst="rect">
            <a:avLst/>
          </a:prstGeom>
        </p:spPr>
      </p:pic>
      <p:sp>
        <p:nvSpPr>
          <p:cNvPr id="9" name="Text 5"/>
          <p:cNvSpPr/>
          <p:nvPr/>
        </p:nvSpPr>
        <p:spPr>
          <a:xfrm>
            <a:off x="6222971" y="4354661"/>
            <a:ext cx="5310924"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133"/>
                </a:solidFill>
                <a:latin typeface="IBM Plex Sans" pitchFamily="34" charset="0"/>
                <a:ea typeface="IBM Plex Sans" pitchFamily="34" charset="-122"/>
                <a:cs typeface="IBM Plex Sans" pitchFamily="34" charset="-120"/>
              </a:rPr>
              <a:t>Fast reroute:</a:t>
            </a:r>
            <a:r>
              <a:rPr lang="en-US" sz="1300" dirty="0">
                <a:solidFill>
                  <a:srgbClr val="4A5568"/>
                </a:solidFill>
                <a:latin typeface="IBM Plex Sans" pitchFamily="34" charset="0"/>
                <a:ea typeface="IBM Plex Sans" pitchFamily="34" charset="-122"/>
                <a:cs typeface="IBM Plex Sans" pitchFamily="34" charset="-120"/>
              </a:rPr>
              <a:t> a stored detour is about 100–250× faster than a fresh Dijkstra run.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COMPARISON WITH EXISTING SYSTEMS</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Existing tools stop at the alert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1908892"/>
          <a:ext cx="10554849" cy="3423060"/>
        </p:xfrm>
        <a:graphic>
          <a:graphicData uri="http://schemas.openxmlformats.org/drawingml/2006/table">
            <a:tbl>
              <a:tblPr/>
              <a:tblGrid>
                <a:gridCol w="2744261"/>
                <a:gridCol w="3588649"/>
                <a:gridCol w="4221940"/>
              </a:tblGrid>
              <a:tr h="489009">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Nagios, Zabbix, PRTG</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21626"/>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c>
                  <a:txBody>
                    <a:bodyPr/>
                    <a:lstStyle/>
                    <a:p>
                      <a:pPr indent="0" marL="0">
                        <a:lnSpc>
                          <a:spcPts val="1960"/>
                        </a:lnSpc>
                        <a:buNone/>
                      </a:pPr>
                      <a:r>
                        <a:rPr lang="en-US" sz="1400" b="1" dirty="0">
                          <a:solidFill>
                            <a:srgbClr val="F1F3F9"/>
                          </a:solidFill>
                          <a:latin typeface="IBM Plex Sans" pitchFamily="34" charset="0"/>
                          <a:ea typeface="IBM Plex Sans" pitchFamily="34" charset="-122"/>
                          <a:cs typeface="IBM Plex Sans" pitchFamily="34" charset="-120"/>
                        </a:rPr>
                        <a:t>Network Detective (measured)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21626"/>
                      </a:solidFill>
                      <a:prstDash val="solid"/>
                      <a:round/>
                      <a:headEnd type="none" w="med" len="med"/>
                      <a:tailEnd type="none" w="med" len="med"/>
                    </a:lnL>
                    <a:lnR w="12700" cap="flat" cmpd="sng" algn="ctr">
                      <a:solidFill>
                        <a:srgbClr val="12162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121626"/>
                      </a:solidFill>
                      <a:prstDash val="solid"/>
                      <a:round/>
                      <a:headEnd type="none" w="med" len="med"/>
                      <a:tailEnd type="none" w="med" len="med"/>
                    </a:lnB>
                    <a:solidFill>
                      <a:srgbClr val="12172B"/>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Detect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On a polling interval</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1.2 s after the cut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Find the cause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Engineer reads alerts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Diagnoser names the failed part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Restore traffic</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Engineer reroutes by hand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Detour applied in 11 ms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Confirm the fix</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Engineer checks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Every hop tested; verified at 3.25 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Unfixable failure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Same alert as any other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Escalated with what is cut off</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9009">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After repair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4C6C8"/>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Engineer restores routes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c>
                  <a:txBody>
                    <a:bodyPr/>
                    <a:lstStyle/>
                    <a:p>
                      <a:pPr indent="0" marL="0">
                        <a:lnSpc>
                          <a:spcPts val="1960"/>
                        </a:lnSpc>
                        <a:buNone/>
                      </a:pPr>
                      <a:r>
                        <a:rPr lang="en-US" sz="1400" dirty="0">
                          <a:solidFill>
                            <a:srgbClr val="1A2133"/>
                          </a:solidFill>
                          <a:latin typeface="IBM Plex Sans" pitchFamily="34" charset="0"/>
                          <a:ea typeface="IBM Plex Sans" pitchFamily="34" charset="-122"/>
                          <a:cs typeface="IBM Plex Sans" pitchFamily="34" charset="-120"/>
                        </a:rPr>
                        <a:t>Fails back automatically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BEC0C5"/>
                      </a:solidFill>
                      <a:prstDash val="solid"/>
                      <a:round/>
                      <a:headEnd type="none" w="med" len="med"/>
                      <a:tailEnd type="none" w="med" len="med"/>
                    </a:lnL>
                    <a:lnR w="12700" cap="flat" cmpd="sng" algn="ctr">
                      <a:solidFill>
                        <a:srgbClr val="BE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5"/>
                      </a:solidFill>
                      <a:prstDash val="solid"/>
                      <a:round/>
                      <a:headEnd type="none" w="med" len="med"/>
                      <a:tailEnd type="none" w="med" len="med"/>
                    </a:lnB>
                    <a:solidFill>
                      <a:srgbClr val="EEF1F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765" y="812769"/>
            <a:ext cx="10883436" cy="256545"/>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4F46E5"/>
                </a:solidFill>
                <a:latin typeface="IBM Plex Sans" pitchFamily="34" charset="0"/>
                <a:ea typeface="IBM Plex Sans" pitchFamily="34" charset="-122"/>
                <a:cs typeface="IBM Plex Sans" pitchFamily="34" charset="-120"/>
              </a:rPr>
              <a:t>LIMITATIONS AND FUTURE SCOPE</a:t>
            </a:r>
            <a:endParaRPr lang="en-US" sz="1300" dirty="0"/>
          </a:p>
        </p:txBody>
      </p:sp>
      <p:sp>
        <p:nvSpPr>
          <p:cNvPr id="3" name="Text 1"/>
          <p:cNvSpPr/>
          <p:nvPr>
            <p:ph type="title"/>
          </p:nvPr>
        </p:nvSpPr>
        <p:spPr>
          <a:xfrm>
            <a:off x="812765" y="1145487"/>
            <a:ext cx="10883436" cy="47242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133"/>
                </a:solidFill>
                <a:latin typeface="Space Grotesk" pitchFamily="34" charset="0"/>
                <a:ea typeface="Space Grotesk" pitchFamily="34" charset="-122"/>
                <a:cs typeface="Space Grotesk" pitchFamily="34" charset="-120"/>
              </a:rPr>
              <a:t>What we would build next</a:t>
            </a:r>
            <a:endParaRPr lang="en-US" sz="3200" dirty="0"/>
          </a:p>
        </p:txBody>
      </p:sp>
      <p:sp>
        <p:nvSpPr>
          <p:cNvPr id="4" name="Shape 2"/>
          <p:cNvSpPr/>
          <p:nvPr/>
        </p:nvSpPr>
        <p:spPr>
          <a:xfrm>
            <a:off x="812765" y="1948111"/>
            <a:ext cx="5181597" cy="1286376"/>
          </a:xfrm>
          <a:prstGeom prst="roundRect">
            <a:avLst>
              <a:gd name="adj" fmla="val 5924"/>
            </a:avLst>
          </a:prstGeom>
          <a:solidFill>
            <a:srgbClr val="FFFFFF"/>
          </a:solidFill>
          <a:ln/>
        </p:spPr>
      </p:sp>
      <p:sp>
        <p:nvSpPr>
          <p:cNvPr id="5" name="Shape 3"/>
          <p:cNvSpPr/>
          <p:nvPr/>
        </p:nvSpPr>
        <p:spPr>
          <a:xfrm>
            <a:off x="812765" y="1948111"/>
            <a:ext cx="5181597" cy="1286376"/>
          </a:xfrm>
          <a:custGeom>
            <a:avLst/>
            <a:gdLst/>
            <a:ahLst/>
            <a:cxnLst/>
            <a:rect l="l" t="t" r="r" b="b"/>
            <a:pathLst>
              <a:path w="5181597" h="1286376">
                <a:moveTo>
                  <a:pt x="76200" y="1286376"/>
                </a:moveTo>
                <a:lnTo>
                  <a:pt x="76200" y="1286376"/>
                </a:lnTo>
                <a:arcTo hR="76200" wR="76200" stAng="5400000" swAng="5400000"/>
                <a:lnTo>
                  <a:pt x="0" y="76200"/>
                </a:lnTo>
                <a:arcTo hR="76200" wR="76200" stAng="10800000" swAng="5400000"/>
                <a:lnTo>
                  <a:pt x="76200" y="0"/>
                </a:lnTo>
                <a:arcTo hR="76200" wR="25400" stAng="16200000" swAng="-5400000"/>
                <a:lnTo>
                  <a:pt x="50800" y="1210176"/>
                </a:lnTo>
                <a:arcTo hR="76200" wR="25400" stAng="10800000" swAng="-5400000"/>
                <a:close/>
              </a:path>
            </a:pathLst>
          </a:custGeom>
          <a:solidFill>
            <a:srgbClr val="4F46E5"/>
          </a:solidFill>
          <a:ln/>
        </p:spPr>
      </p:sp>
      <p:sp>
        <p:nvSpPr>
          <p:cNvPr id="6" name="Text 4"/>
          <p:cNvSpPr/>
          <p:nvPr/>
        </p:nvSpPr>
        <p:spPr>
          <a:xfrm>
            <a:off x="1116006" y="2176673"/>
            <a:ext cx="4763118"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133"/>
                </a:solidFill>
                <a:latin typeface="Space Grotesk" pitchFamily="34" charset="0"/>
                <a:ea typeface="Space Grotesk" pitchFamily="34" charset="-122"/>
                <a:cs typeface="Space Grotesk" pitchFamily="34" charset="-120"/>
              </a:rPr>
              <a:t>Real network equipment</a:t>
            </a:r>
            <a:endParaRPr lang="en-US" sz="1800" dirty="0"/>
          </a:p>
        </p:txBody>
      </p:sp>
      <p:sp>
        <p:nvSpPr>
          <p:cNvPr id="7" name="Text 5"/>
          <p:cNvSpPr/>
          <p:nvPr/>
        </p:nvSpPr>
        <p:spPr>
          <a:xfrm>
            <a:off x="1116006" y="2527151"/>
            <a:ext cx="4763118"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Today a reroute changes our routing table. Next: push it to routers over SNMP or NETCONF.</a:t>
            </a:r>
            <a:endParaRPr lang="en-US" sz="1300" dirty="0"/>
          </a:p>
        </p:txBody>
      </p:sp>
      <p:sp>
        <p:nvSpPr>
          <p:cNvPr id="8" name="Shape 6"/>
          <p:cNvSpPr/>
          <p:nvPr/>
        </p:nvSpPr>
        <p:spPr>
          <a:xfrm>
            <a:off x="6197520" y="1948111"/>
            <a:ext cx="5181597" cy="1286376"/>
          </a:xfrm>
          <a:prstGeom prst="roundRect">
            <a:avLst>
              <a:gd name="adj" fmla="val 5924"/>
            </a:avLst>
          </a:prstGeom>
          <a:solidFill>
            <a:srgbClr val="FFFFFF"/>
          </a:solidFill>
          <a:ln/>
        </p:spPr>
      </p:sp>
      <p:sp>
        <p:nvSpPr>
          <p:cNvPr id="9" name="Shape 7"/>
          <p:cNvSpPr/>
          <p:nvPr/>
        </p:nvSpPr>
        <p:spPr>
          <a:xfrm>
            <a:off x="6197520" y="1948111"/>
            <a:ext cx="5181597" cy="1286376"/>
          </a:xfrm>
          <a:custGeom>
            <a:avLst/>
            <a:gdLst/>
            <a:ahLst/>
            <a:cxnLst/>
            <a:rect l="l" t="t" r="r" b="b"/>
            <a:pathLst>
              <a:path w="5181597" h="1286376">
                <a:moveTo>
                  <a:pt x="76200" y="1286376"/>
                </a:moveTo>
                <a:lnTo>
                  <a:pt x="76200" y="1286376"/>
                </a:lnTo>
                <a:arcTo hR="76200" wR="76200" stAng="5400000" swAng="5400000"/>
                <a:lnTo>
                  <a:pt x="0" y="76200"/>
                </a:lnTo>
                <a:arcTo hR="76200" wR="76200" stAng="10800000" swAng="5400000"/>
                <a:lnTo>
                  <a:pt x="76200" y="0"/>
                </a:lnTo>
                <a:arcTo hR="76200" wR="25400" stAng="16200000" swAng="-5400000"/>
                <a:lnTo>
                  <a:pt x="50800" y="1210176"/>
                </a:lnTo>
                <a:arcTo hR="76200" wR="25400" stAng="10800000" swAng="-5400000"/>
                <a:close/>
              </a:path>
            </a:pathLst>
          </a:custGeom>
          <a:solidFill>
            <a:srgbClr val="4F46E5"/>
          </a:solidFill>
          <a:ln/>
        </p:spPr>
      </p:sp>
      <p:sp>
        <p:nvSpPr>
          <p:cNvPr id="10" name="Text 8"/>
          <p:cNvSpPr/>
          <p:nvPr/>
        </p:nvSpPr>
        <p:spPr>
          <a:xfrm>
            <a:off x="6500761" y="2176673"/>
            <a:ext cx="4763118"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133"/>
                </a:solidFill>
                <a:latin typeface="Space Grotesk" pitchFamily="34" charset="0"/>
                <a:ea typeface="Space Grotesk" pitchFamily="34" charset="-122"/>
                <a:cs typeface="Space Grotesk" pitchFamily="34" charset="-120"/>
              </a:rPr>
              <a:t>Larger networks</a:t>
            </a:r>
            <a:endParaRPr lang="en-US" sz="1800" dirty="0"/>
          </a:p>
        </p:txBody>
      </p:sp>
      <p:sp>
        <p:nvSpPr>
          <p:cNvPr id="11" name="Text 9"/>
          <p:cNvSpPr/>
          <p:nvPr/>
        </p:nvSpPr>
        <p:spPr>
          <a:xfrm>
            <a:off x="6500761" y="2527151"/>
            <a:ext cx="4763118"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The backup table takes 3.7 s at 50 devices, 370 s at 200. Next: update only what changed.</a:t>
            </a:r>
            <a:endParaRPr lang="en-US" sz="1300" dirty="0"/>
          </a:p>
        </p:txBody>
      </p:sp>
      <p:sp>
        <p:nvSpPr>
          <p:cNvPr id="12" name="Shape 10"/>
          <p:cNvSpPr/>
          <p:nvPr/>
        </p:nvSpPr>
        <p:spPr>
          <a:xfrm>
            <a:off x="812765" y="3437644"/>
            <a:ext cx="5181597" cy="1286376"/>
          </a:xfrm>
          <a:prstGeom prst="roundRect">
            <a:avLst>
              <a:gd name="adj" fmla="val 5924"/>
            </a:avLst>
          </a:prstGeom>
          <a:solidFill>
            <a:srgbClr val="FFFFFF"/>
          </a:solidFill>
          <a:ln/>
        </p:spPr>
      </p:sp>
      <p:sp>
        <p:nvSpPr>
          <p:cNvPr id="13" name="Shape 11"/>
          <p:cNvSpPr/>
          <p:nvPr/>
        </p:nvSpPr>
        <p:spPr>
          <a:xfrm>
            <a:off x="812765" y="3437644"/>
            <a:ext cx="5181597" cy="1286376"/>
          </a:xfrm>
          <a:custGeom>
            <a:avLst/>
            <a:gdLst/>
            <a:ahLst/>
            <a:cxnLst/>
            <a:rect l="l" t="t" r="r" b="b"/>
            <a:pathLst>
              <a:path w="5181597" h="1286376">
                <a:moveTo>
                  <a:pt x="76200" y="1286376"/>
                </a:moveTo>
                <a:lnTo>
                  <a:pt x="76200" y="1286376"/>
                </a:lnTo>
                <a:arcTo hR="76200" wR="76200" stAng="5400000" swAng="5400000"/>
                <a:lnTo>
                  <a:pt x="0" y="76200"/>
                </a:lnTo>
                <a:arcTo hR="76200" wR="76200" stAng="10800000" swAng="5400000"/>
                <a:lnTo>
                  <a:pt x="76200" y="0"/>
                </a:lnTo>
                <a:arcTo hR="76200" wR="25400" stAng="16200000" swAng="-5400000"/>
                <a:lnTo>
                  <a:pt x="50800" y="1210176"/>
                </a:lnTo>
                <a:arcTo hR="76200" wR="25400" stAng="10800000" swAng="-5400000"/>
                <a:close/>
              </a:path>
            </a:pathLst>
          </a:custGeom>
          <a:solidFill>
            <a:srgbClr val="4F46E5"/>
          </a:solidFill>
          <a:ln/>
        </p:spPr>
      </p:sp>
      <p:sp>
        <p:nvSpPr>
          <p:cNvPr id="14" name="Text 12"/>
          <p:cNvSpPr/>
          <p:nvPr/>
        </p:nvSpPr>
        <p:spPr>
          <a:xfrm>
            <a:off x="1116006" y="3666207"/>
            <a:ext cx="4763118"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133"/>
                </a:solidFill>
                <a:latin typeface="Space Grotesk" pitchFamily="34" charset="0"/>
                <a:ea typeface="Space Grotesk" pitchFamily="34" charset="-122"/>
                <a:cs typeface="Space Grotesk" pitchFamily="34" charset="-120"/>
              </a:rPr>
              <a:t>Devices that block ping</a:t>
            </a:r>
            <a:endParaRPr lang="en-US" sz="1800" dirty="0"/>
          </a:p>
        </p:txBody>
      </p:sp>
      <p:sp>
        <p:nvSpPr>
          <p:cNvPr id="15" name="Text 13"/>
          <p:cNvSpPr/>
          <p:nvPr/>
        </p:nvSpPr>
        <p:spPr>
          <a:xfrm>
            <a:off x="1116006" y="4016685"/>
            <a:ext cx="4763118"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They show as down today. Next: probe a TCP port or read SNMP counters.</a:t>
            </a:r>
            <a:endParaRPr lang="en-US" sz="1300" dirty="0"/>
          </a:p>
        </p:txBody>
      </p:sp>
      <p:sp>
        <p:nvSpPr>
          <p:cNvPr id="16" name="Shape 14"/>
          <p:cNvSpPr/>
          <p:nvPr/>
        </p:nvSpPr>
        <p:spPr>
          <a:xfrm>
            <a:off x="6197520" y="3437644"/>
            <a:ext cx="5181597" cy="1286376"/>
          </a:xfrm>
          <a:prstGeom prst="roundRect">
            <a:avLst>
              <a:gd name="adj" fmla="val 5924"/>
            </a:avLst>
          </a:prstGeom>
          <a:solidFill>
            <a:srgbClr val="FFFFFF"/>
          </a:solidFill>
          <a:ln/>
        </p:spPr>
      </p:sp>
      <p:sp>
        <p:nvSpPr>
          <p:cNvPr id="17" name="Shape 15"/>
          <p:cNvSpPr/>
          <p:nvPr/>
        </p:nvSpPr>
        <p:spPr>
          <a:xfrm>
            <a:off x="6197520" y="3437644"/>
            <a:ext cx="5181597" cy="1286376"/>
          </a:xfrm>
          <a:custGeom>
            <a:avLst/>
            <a:gdLst/>
            <a:ahLst/>
            <a:cxnLst/>
            <a:rect l="l" t="t" r="r" b="b"/>
            <a:pathLst>
              <a:path w="5181597" h="1286376">
                <a:moveTo>
                  <a:pt x="76200" y="1286376"/>
                </a:moveTo>
                <a:lnTo>
                  <a:pt x="76200" y="1286376"/>
                </a:lnTo>
                <a:arcTo hR="76200" wR="76200" stAng="5400000" swAng="5400000"/>
                <a:lnTo>
                  <a:pt x="0" y="76200"/>
                </a:lnTo>
                <a:arcTo hR="76200" wR="76200" stAng="10800000" swAng="5400000"/>
                <a:lnTo>
                  <a:pt x="76200" y="0"/>
                </a:lnTo>
                <a:arcTo hR="76200" wR="25400" stAng="16200000" swAng="-5400000"/>
                <a:lnTo>
                  <a:pt x="50800" y="1210176"/>
                </a:lnTo>
                <a:arcTo hR="76200" wR="25400" stAng="10800000" swAng="-5400000"/>
                <a:close/>
              </a:path>
            </a:pathLst>
          </a:custGeom>
          <a:solidFill>
            <a:srgbClr val="4F46E5"/>
          </a:solidFill>
          <a:ln/>
        </p:spPr>
      </p:sp>
      <p:sp>
        <p:nvSpPr>
          <p:cNvPr id="18" name="Text 16"/>
          <p:cNvSpPr/>
          <p:nvPr/>
        </p:nvSpPr>
        <p:spPr>
          <a:xfrm>
            <a:off x="6500761" y="3666207"/>
            <a:ext cx="4763118"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133"/>
                </a:solidFill>
                <a:latin typeface="Space Grotesk" pitchFamily="34" charset="0"/>
                <a:ea typeface="Space Grotesk" pitchFamily="34" charset="-122"/>
                <a:cs typeface="Space Grotesk" pitchFamily="34" charset="-120"/>
              </a:rPr>
              <a:t>Predict before it fails</a:t>
            </a:r>
            <a:endParaRPr lang="en-US" sz="1800" dirty="0"/>
          </a:p>
        </p:txBody>
      </p:sp>
      <p:sp>
        <p:nvSpPr>
          <p:cNvPr id="19" name="Text 17"/>
          <p:cNvSpPr/>
          <p:nvPr/>
        </p:nvSpPr>
        <p:spPr>
          <a:xfrm>
            <a:off x="6500761" y="4016685"/>
            <a:ext cx="4763118"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Learn from stored latency history to move traffic before a link fails.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2B"/>
        </a:solidFill>
      </p:bgPr>
    </p:bg>
    <p:spTree>
      <p:nvGrpSpPr>
        <p:cNvPr id="1" name=""/>
        <p:cNvGrpSpPr/>
        <p:nvPr/>
      </p:nvGrpSpPr>
      <p:grpSpPr>
        <a:xfrm>
          <a:off x="0" y="0"/>
          <a:ext cx="0" cy="0"/>
          <a:chOff x="0" y="0"/>
          <a:chExt cx="0" cy="0"/>
        </a:xfrm>
      </p:grpSpPr>
      <p:sp>
        <p:nvSpPr>
          <p:cNvPr id="2" name="Text 0"/>
          <p:cNvSpPr/>
          <p:nvPr/>
        </p:nvSpPr>
        <p:spPr>
          <a:xfrm>
            <a:off x="812765" y="812763"/>
            <a:ext cx="10883436" cy="274297"/>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A5B4FC"/>
                </a:solidFill>
                <a:latin typeface="IBM Plex Sans" pitchFamily="34" charset="0"/>
                <a:ea typeface="IBM Plex Sans" pitchFamily="34" charset="-122"/>
                <a:cs typeface="IBM Plex Sans" pitchFamily="34" charset="-120"/>
              </a:rPr>
              <a:t>NETWORK DETECTIVE</a:t>
            </a:r>
            <a:endParaRPr lang="en-US" sz="1400" dirty="0"/>
          </a:p>
        </p:txBody>
      </p:sp>
      <p:sp>
        <p:nvSpPr>
          <p:cNvPr id="3" name="Text 1"/>
          <p:cNvSpPr/>
          <p:nvPr>
            <p:ph type="title"/>
          </p:nvPr>
        </p:nvSpPr>
        <p:spPr>
          <a:xfrm>
            <a:off x="812765" y="1290222"/>
            <a:ext cx="10883436" cy="802615"/>
          </a:xfrm>
          <a:prstGeom prst="rect">
            <a:avLst/>
          </a:prstGeom>
          <a:noFill/>
          <a:ln/>
        </p:spPr>
        <p:txBody>
          <a:bodyPr wrap="square" lIns="0" tIns="0" rIns="0" bIns="0" rtlCol="0" anchor="t">
            <a:normAutofit/>
          </a:bodyPr>
          <a:lstStyle/>
          <a:p>
            <a:pPr algn="l" indent="0" marL="0">
              <a:lnSpc>
                <a:spcPts val="6120"/>
              </a:lnSpc>
              <a:buNone/>
            </a:pPr>
            <a:r>
              <a:rPr lang="en-US" sz="6000" b="1" i="0" dirty="0">
                <a:solidFill>
                  <a:srgbClr val="F1F3F9"/>
                </a:solidFill>
                <a:latin typeface="Space Grotesk" pitchFamily="34" charset="0"/>
                <a:ea typeface="Space Grotesk" pitchFamily="34" charset="-122"/>
                <a:cs typeface="Space Grotesk" pitchFamily="34" charset="-120"/>
              </a:rPr>
              <a:t>Thank you</a:t>
            </a:r>
            <a:endParaRPr lang="en-US" sz="6000" dirty="0"/>
          </a:p>
        </p:txBody>
      </p:sp>
      <p:sp>
        <p:nvSpPr>
          <p:cNvPr id="4" name="Text 2"/>
          <p:cNvSpPr/>
          <p:nvPr/>
        </p:nvSpPr>
        <p:spPr>
          <a:xfrm>
            <a:off x="812765" y="2296002"/>
            <a:ext cx="9156664" cy="368313"/>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4BCD0"/>
                </a:solidFill>
                <a:latin typeface="IBM Plex Sans" pitchFamily="34" charset="0"/>
                <a:ea typeface="IBM Plex Sans" pitchFamily="34" charset="-122"/>
                <a:cs typeface="IBM Plex Sans" pitchFamily="34" charset="-120"/>
              </a:rPr>
              <a:t>Detect in 1.2 s, reroute in milliseconds, verified in 3.25 s. Questions?</a:t>
            </a:r>
            <a:endParaRPr lang="en-US" sz="2000" dirty="0"/>
          </a:p>
        </p:txBody>
      </p:sp>
      <p:sp>
        <p:nvSpPr>
          <p:cNvPr id="5" name="Text 3"/>
          <p:cNvSpPr/>
          <p:nvPr/>
        </p:nvSpPr>
        <p:spPr>
          <a:xfrm>
            <a:off x="812765" y="5435705"/>
            <a:ext cx="10883436"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CD0"/>
                </a:solidFill>
                <a:latin typeface="IBM Plex Sans" pitchFamily="34" charset="0"/>
                <a:ea typeface="IBM Plex Sans" pitchFamily="34" charset="-122"/>
                <a:cs typeface="IBM Plex Sans" pitchFamily="34" charset="-120"/>
              </a:rPr>
              <a:t>Source code</a:t>
            </a:r>
            <a:endParaRPr lang="en-US" sz="1400" dirty="0"/>
          </a:p>
        </p:txBody>
      </p:sp>
      <p:sp>
        <p:nvSpPr>
          <p:cNvPr id="6" name="Text 4"/>
          <p:cNvSpPr/>
          <p:nvPr/>
        </p:nvSpPr>
        <p:spPr>
          <a:xfrm>
            <a:off x="812765" y="5760771"/>
            <a:ext cx="10883436" cy="309847"/>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F1F3F9"/>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github.com/likithtech2006-pixel/network-detective</a:t>
            </a:r>
            <a:endParaRPr lang="en-US" sz="1600" dirty="0"/>
          </a:p>
        </p:txBody>
      </p:sp>
    </p:spTree>
  </p:cSld>
  <p:clrMapOvr>
    <a:masterClrMapping/>
  </p:clrMapOvr>
</p:sld>
</file>

<file path=ppt/theme/theme1.xml><?xml version="1.0" encoding="utf-8"?>
<a:theme xmlns:a="http://schemas.openxmlformats.org/drawingml/2006/main" name="Network Detective – Project Presentation">
  <a:themeElements>
    <a:clrScheme name="Network Detective – Project Presentation">
      <a:dk1>
        <a:srgbClr val="1A2133"/>
      </a:dk1>
      <a:lt1>
        <a:srgbClr val="F6F8FB"/>
      </a:lt1>
      <a:dk2>
        <a:srgbClr val="515765"/>
      </a:dk2>
      <a:lt2>
        <a:srgbClr val="E0E3E7"/>
      </a:lt2>
      <a:accent1>
        <a:srgbClr val="4F46E5"/>
      </a:accent1>
      <a:accent2>
        <a:srgbClr val="A5B4FC"/>
      </a:accent2>
      <a:accent3>
        <a:srgbClr val="6EE7B7"/>
      </a:accent3>
      <a:accent4>
        <a:srgbClr val="047857"/>
      </a:accent4>
      <a:accent5>
        <a:srgbClr val="B4BCD0"/>
      </a:accent5>
      <a:accent6>
        <a:srgbClr val="4A5568"/>
      </a:accent6>
      <a:hlink>
        <a:srgbClr val="0563C1"/>
      </a:hlink>
      <a:folHlink>
        <a:srgbClr val="954F72"/>
      </a:folHlink>
    </a:clrScheme>
    <a:fontScheme name="Network Detective – Project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Detective – Project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2026-10-27T09:22:10Z</dcterms:created>
  <dcterms:modified xsi:type="dcterms:W3CDTF">2026-10-27T09:22:10Z</dcterms:modified>
</cp:coreProperties>
</file>